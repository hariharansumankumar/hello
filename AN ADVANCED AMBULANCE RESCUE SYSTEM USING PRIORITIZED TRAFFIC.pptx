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2" r:id="rId5"/>
    <p:sldId id="273" r:id="rId6"/>
    <p:sldId id="274" r:id="rId7"/>
    <p:sldId id="275" r:id="rId8"/>
    <p:sldId id="260" r:id="rId9"/>
    <p:sldId id="261" r:id="rId10"/>
    <p:sldId id="262" r:id="rId11"/>
    <p:sldId id="264" r:id="rId12"/>
    <p:sldId id="259" r:id="rId13"/>
    <p:sldId id="265" r:id="rId14"/>
    <p:sldId id="266" r:id="rId15"/>
    <p:sldId id="269" r:id="rId16"/>
    <p:sldId id="270" r:id="rId17"/>
    <p:sldId id="276" r:id="rId18"/>
    <p:sldId id="277" r:id="rId19"/>
    <p:sldId id="278" r:id="rId20"/>
    <p:sldId id="279" r:id="rId21"/>
    <p:sldId id="280" r:id="rId22"/>
    <p:sldId id="281" r:id="rId23"/>
    <p:sldId id="282" r:id="rId24"/>
    <p:sldId id="28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476"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6C413FE-FA48-4EA6-8281-0053CAAD3A1E}"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189071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C413FE-FA48-4EA6-8281-0053CAAD3A1E}"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578118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C413FE-FA48-4EA6-8281-0053CAAD3A1E}"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47766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C413FE-FA48-4EA6-8281-0053CAAD3A1E}"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1276933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C413FE-FA48-4EA6-8281-0053CAAD3A1E}" type="datetimeFigureOut">
              <a:rPr lang="en-US" smtClean="0"/>
              <a:t>3/11/2020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169638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C413FE-FA48-4EA6-8281-0053CAAD3A1E}" type="datetimeFigureOut">
              <a:rPr lang="en-US" smtClean="0"/>
              <a:t>3/11/2020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3301541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C413FE-FA48-4EA6-8281-0053CAAD3A1E}" type="datetimeFigureOut">
              <a:rPr lang="en-US" smtClean="0"/>
              <a:t>3/11/2020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250107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C413FE-FA48-4EA6-8281-0053CAAD3A1E}"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218954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C413FE-FA48-4EA6-8281-0053CAAD3A1E}" type="datetimeFigureOut">
              <a:rPr lang="en-US" smtClean="0"/>
              <a:t>3/11/2020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337616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C413FE-FA48-4EA6-8281-0053CAAD3A1E}"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289006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C413FE-FA48-4EA6-8281-0053CAAD3A1E}" type="datetimeFigureOut">
              <a:rPr lang="en-US" smtClean="0"/>
              <a:t>3/11/2020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002FFE-CC6E-4B64-9FC9-1F6E6A54951D}" type="slidenum">
              <a:rPr lang="en-US" smtClean="0"/>
              <a:t>‹#›</a:t>
            </a:fld>
            <a:endParaRPr lang="en-US"/>
          </a:p>
        </p:txBody>
      </p:sp>
    </p:spTree>
    <p:extLst>
      <p:ext uri="{BB962C8B-B14F-4D97-AF65-F5344CB8AC3E}">
        <p14:creationId xmlns:p14="http://schemas.microsoft.com/office/powerpoint/2010/main" val="4078415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C413FE-FA48-4EA6-8281-0053CAAD3A1E}" type="datetimeFigureOut">
              <a:rPr lang="en-US" smtClean="0"/>
              <a:t>3/11/2020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002FFE-CC6E-4B64-9FC9-1F6E6A54951D}" type="slidenum">
              <a:rPr lang="en-US" smtClean="0"/>
              <a:t>‹#›</a:t>
            </a:fld>
            <a:endParaRPr lang="en-US"/>
          </a:p>
        </p:txBody>
      </p:sp>
    </p:spTree>
    <p:extLst>
      <p:ext uri="{BB962C8B-B14F-4D97-AF65-F5344CB8AC3E}">
        <p14:creationId xmlns:p14="http://schemas.microsoft.com/office/powerpoint/2010/main" val="3302197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uthor/37086146774" TargetMode="External"/><Relationship Id="rId2" Type="http://schemas.openxmlformats.org/officeDocument/2006/relationships/hyperlink" Target="https://ieeexplore.ieee.org/author/37419132200" TargetMode="External"/><Relationship Id="rId1" Type="http://schemas.openxmlformats.org/officeDocument/2006/relationships/slideLayout" Target="../slideLayouts/slideLayout2.xml"/><Relationship Id="rId5" Type="http://schemas.openxmlformats.org/officeDocument/2006/relationships/hyperlink" Target="https://ieeexplore.ieee.org/author/37086586977" TargetMode="External"/><Relationship Id="rId4" Type="http://schemas.openxmlformats.org/officeDocument/2006/relationships/hyperlink" Target="https://ieeexplore.ieee.org/author/3708659034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author/37086930623" TargetMode="External"/><Relationship Id="rId2" Type="http://schemas.openxmlformats.org/officeDocument/2006/relationships/hyperlink" Target="https://ieeexplore.ieee.org/author/37086924180" TargetMode="External"/><Relationship Id="rId1" Type="http://schemas.openxmlformats.org/officeDocument/2006/relationships/slideLayout" Target="../slideLayouts/slideLayout2.xml"/><Relationship Id="rId6" Type="http://schemas.openxmlformats.org/officeDocument/2006/relationships/hyperlink" Target="https://ieeexplore.ieee.org/author/37086930333" TargetMode="External"/><Relationship Id="rId5" Type="http://schemas.openxmlformats.org/officeDocument/2006/relationships/hyperlink" Target="https://ieeexplore.ieee.org/author/37086929730" TargetMode="External"/><Relationship Id="rId4" Type="http://schemas.openxmlformats.org/officeDocument/2006/relationships/hyperlink" Target="https://ieeexplore.ieee.org/author/3708692740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en.wikipedia.org/wiki/Microcontroller" TargetMode="External"/><Relationship Id="rId2" Type="http://schemas.openxmlformats.org/officeDocument/2006/relationships/hyperlink" Target="http://arduino.cc/" TargetMode="External"/><Relationship Id="rId1" Type="http://schemas.openxmlformats.org/officeDocument/2006/relationships/slideLayout" Target="../slideLayouts/slideLayout2.xml"/><Relationship Id="rId4" Type="http://schemas.openxmlformats.org/officeDocument/2006/relationships/hyperlink" Target="http://arduino.cc/en/Main/Software"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learn.sparkfun.com/tutorials/what-is-an-arduino/the-arduino-famil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m.wikipedia.org/wiki/Device_driver" TargetMode="External"/><Relationship Id="rId7" Type="http://schemas.openxmlformats.org/officeDocument/2006/relationships/hyperlink" Target="https://en.m.wikipedia.org/wiki/Binary_numeral_system" TargetMode="External"/><Relationship Id="rId2" Type="http://schemas.openxmlformats.org/officeDocument/2006/relationships/hyperlink" Target="https://en.m.wikipedia.org/wiki/Application_software" TargetMode="External"/><Relationship Id="rId1" Type="http://schemas.openxmlformats.org/officeDocument/2006/relationships/slideLayout" Target="../slideLayouts/slideLayout2.xml"/><Relationship Id="rId6" Type="http://schemas.openxmlformats.org/officeDocument/2006/relationships/hyperlink" Target="https://en.m.wikipedia.org/wiki/Hexadecimal" TargetMode="External"/><Relationship Id="rId5" Type="http://schemas.openxmlformats.org/officeDocument/2006/relationships/hyperlink" Target="https://en.m.wikipedia.org/wiki/Decimal" TargetMode="External"/><Relationship Id="rId4" Type="http://schemas.openxmlformats.org/officeDocument/2006/relationships/hyperlink" Target="https://en.m.wikipedia.org/wiki/Schemati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2057400"/>
          </a:xfrm>
        </p:spPr>
        <p:txBody>
          <a:bodyPr>
            <a:normAutofit fontScale="90000"/>
          </a:bodyPr>
          <a:lstStyle/>
          <a:p>
            <a:r>
              <a:rPr lang="en-US" b="1" dirty="0">
                <a:latin typeface="Times New Roman" pitchFamily="18" charset="0"/>
                <a:cs typeface="Times New Roman" pitchFamily="18" charset="0"/>
              </a:rPr>
              <a:t>AN ADVANCED AMBULANCE RESCUE SYSTEM USING PRIORITIZED TRAFFIC SWITCHING</a:t>
            </a:r>
          </a:p>
        </p:txBody>
      </p:sp>
    </p:spTree>
    <p:extLst>
      <p:ext uri="{BB962C8B-B14F-4D97-AF65-F5344CB8AC3E}">
        <p14:creationId xmlns:p14="http://schemas.microsoft.com/office/powerpoint/2010/main" val="4178453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itchFamily="18" charset="0"/>
                <a:cs typeface="Times New Roman" pitchFamily="18" charset="0"/>
              </a:rPr>
              <a:t>ABSTRACT:</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86400"/>
          </a:xfrm>
        </p:spPr>
        <p:txBody>
          <a:bodyPr>
            <a:noAutofit/>
          </a:bodyPr>
          <a:lstStyle/>
          <a:p>
            <a:r>
              <a:rPr lang="en-US" sz="2400" dirty="0">
                <a:latin typeface="Times New Roman" pitchFamily="18" charset="0"/>
                <a:cs typeface="Times New Roman" pitchFamily="18" charset="0"/>
              </a:rPr>
              <a:t>There is loss of life as a result of the delay within the arrival of ambulance to the hospital within the golden hour. This delay is especially caused by the waiting of the ambulance within the traffic signals. </a:t>
            </a:r>
          </a:p>
          <a:p>
            <a:r>
              <a:rPr lang="en-US" sz="2400" dirty="0">
                <a:latin typeface="Times New Roman" pitchFamily="18" charset="0"/>
                <a:cs typeface="Times New Roman" pitchFamily="18" charset="0"/>
              </a:rPr>
              <a:t>The ambulance is controlled by the control unit that furnishes adequate route to the ambulance and conjointly controls the stoplight in step with the ambulance location and therefore reaching the hospital safely.</a:t>
            </a:r>
          </a:p>
          <a:p>
            <a:r>
              <a:rPr lang="en-US" sz="2400" dirty="0">
                <a:latin typeface="Times New Roman" pitchFamily="18" charset="0"/>
                <a:cs typeface="Times New Roman" pitchFamily="18" charset="0"/>
              </a:rPr>
              <a:t> The controller identifies the situation of the accident spot through the measuring system within the vehicle and therefore the controller walks through the ambulance to the spot. </a:t>
            </a:r>
          </a:p>
          <a:p>
            <a:r>
              <a:rPr lang="en-US" sz="2400" dirty="0">
                <a:latin typeface="Times New Roman" pitchFamily="18" charset="0"/>
                <a:cs typeface="Times New Roman" pitchFamily="18" charset="0"/>
              </a:rPr>
              <a:t>This theme is totally ambulance -controlled, therefore it finds the accident spot, controls the traffic lights, serving to succeed in the hospital in time.</a:t>
            </a:r>
          </a:p>
        </p:txBody>
      </p:sp>
    </p:spTree>
    <p:extLst>
      <p:ext uri="{BB962C8B-B14F-4D97-AF65-F5344CB8AC3E}">
        <p14:creationId xmlns:p14="http://schemas.microsoft.com/office/powerpoint/2010/main" val="3512322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225" y="200026"/>
            <a:ext cx="8639175" cy="638175"/>
          </a:xfrm>
        </p:spPr>
        <p:txBody>
          <a:bodyPr>
            <a:normAutofit/>
          </a:bodyPr>
          <a:lstStyle/>
          <a:p>
            <a:pPr algn="ctr"/>
            <a:r>
              <a:rPr lang="en-US" sz="3200" b="1" dirty="0">
                <a:latin typeface="Times New Roman" pitchFamily="18" charset="0"/>
                <a:cs typeface="Times New Roman" pitchFamily="18" charset="0"/>
              </a:rPr>
              <a:t>LITERATURE SURVEY 1</a:t>
            </a:r>
          </a:p>
        </p:txBody>
      </p:sp>
      <p:graphicFrame>
        <p:nvGraphicFramePr>
          <p:cNvPr id="5" name="Table 4"/>
          <p:cNvGraphicFramePr>
            <a:graphicFrameLocks noGrp="1"/>
          </p:cNvGraphicFramePr>
          <p:nvPr>
            <p:extLst>
              <p:ext uri="{D42A27DB-BD31-4B8C-83A1-F6EECF244321}">
                <p14:modId xmlns:p14="http://schemas.microsoft.com/office/powerpoint/2010/main" val="2177577029"/>
              </p:ext>
            </p:extLst>
          </p:nvPr>
        </p:nvGraphicFramePr>
        <p:xfrm>
          <a:off x="342900" y="1151466"/>
          <a:ext cx="8524876" cy="5439834"/>
        </p:xfrm>
        <a:graphic>
          <a:graphicData uri="http://schemas.openxmlformats.org/drawingml/2006/table">
            <a:tbl>
              <a:tblPr firstRow="1" bandRow="1">
                <a:tableStyleId>{5C22544A-7EE6-4342-B048-85BDC9FD1C3A}</a:tableStyleId>
              </a:tblPr>
              <a:tblGrid>
                <a:gridCol w="61912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790951">
                  <a:extLst>
                    <a:ext uri="{9D8B030D-6E8A-4147-A177-3AD203B41FA5}">
                      <a16:colId xmlns:a16="http://schemas.microsoft.com/office/drawing/2014/main" val="20004"/>
                    </a:ext>
                  </a:extLst>
                </a:gridCol>
              </a:tblGrid>
              <a:tr h="920806">
                <a:tc>
                  <a:txBody>
                    <a:bodyPr/>
                    <a:lstStyle/>
                    <a:p>
                      <a:r>
                        <a:rPr lang="en-US" dirty="0"/>
                        <a:t>S.NO</a:t>
                      </a:r>
                    </a:p>
                  </a:txBody>
                  <a:tcPr marL="68580" marR="68580"/>
                </a:tc>
                <a:tc>
                  <a:txBody>
                    <a:bodyPr/>
                    <a:lstStyle/>
                    <a:p>
                      <a:r>
                        <a:rPr lang="en-US" dirty="0"/>
                        <a:t>TITLE </a:t>
                      </a:r>
                    </a:p>
                  </a:txBody>
                  <a:tcPr marL="68580" marR="68580"/>
                </a:tc>
                <a:tc>
                  <a:txBody>
                    <a:bodyPr/>
                    <a:lstStyle/>
                    <a:p>
                      <a:r>
                        <a:rPr lang="en-US" dirty="0"/>
                        <a:t>NAME</a:t>
                      </a:r>
                    </a:p>
                  </a:txBody>
                  <a:tcPr marL="68580" marR="68580"/>
                </a:tc>
                <a:tc>
                  <a:txBody>
                    <a:bodyPr/>
                    <a:lstStyle/>
                    <a:p>
                      <a:r>
                        <a:rPr lang="en-US" dirty="0"/>
                        <a:t>YEAR</a:t>
                      </a:r>
                    </a:p>
                  </a:txBody>
                  <a:tcPr marL="68580" marR="68580"/>
                </a:tc>
                <a:tc>
                  <a:txBody>
                    <a:bodyPr/>
                    <a:lstStyle/>
                    <a:p>
                      <a:r>
                        <a:rPr lang="en-US" dirty="0"/>
                        <a:t>REMARKS</a:t>
                      </a:r>
                    </a:p>
                  </a:txBody>
                  <a:tcPr marL="68580" marR="68580"/>
                </a:tc>
                <a:extLst>
                  <a:ext uri="{0D108BD9-81ED-4DB2-BD59-A6C34878D82A}">
                    <a16:rowId xmlns:a16="http://schemas.microsoft.com/office/drawing/2014/main" val="10000"/>
                  </a:ext>
                </a:extLst>
              </a:tr>
              <a:tr h="4519028">
                <a:tc>
                  <a:txBody>
                    <a:bodyPr/>
                    <a:lstStyle/>
                    <a:p>
                      <a:r>
                        <a:rPr lang="en-US" dirty="0"/>
                        <a:t>1</a:t>
                      </a:r>
                    </a:p>
                  </a:txBody>
                  <a:tcPr marL="68580" marR="68580"/>
                </a:tc>
                <a:tc>
                  <a:txBody>
                    <a:bodyPr/>
                    <a:lstStyle/>
                    <a:p>
                      <a:r>
                        <a:rPr lang="en-GB" dirty="0" smtClean="0">
                          <a:latin typeface="Times New Roman" panose="02020603050405020304" pitchFamily="18" charset="0"/>
                          <a:ea typeface="+mn-lt"/>
                          <a:cs typeface="Times New Roman" panose="02020603050405020304" pitchFamily="18" charset="0"/>
                        </a:rPr>
                        <a:t>Traffic accident Automatic detection and remote alarm Device </a:t>
                      </a:r>
                      <a:endParaRPr lang="en-GB" dirty="0">
                        <a:latin typeface="Times New Roman" panose="02020603050405020304" pitchFamily="18" charset="0"/>
                        <a:ea typeface="+mn-lt"/>
                        <a:cs typeface="Times New Roman" panose="02020603050405020304" pitchFamily="18" charset="0"/>
                      </a:endParaRPr>
                    </a:p>
                  </a:txBody>
                  <a:tcPr marL="68580" marR="68580"/>
                </a:tc>
                <a:tc>
                  <a:txBody>
                    <a:bodyPr/>
                    <a:lstStyle/>
                    <a:p>
                      <a:r>
                        <a:rPr lang="en-IN" dirty="0" err="1">
                          <a:latin typeface="Times New Roman" panose="02020603050405020304" pitchFamily="18" charset="0"/>
                          <a:cs typeface="Times New Roman" panose="02020603050405020304" pitchFamily="18" charset="0"/>
                        </a:rPr>
                        <a:t>Shradha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Somani</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Parikshit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Solunke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Shaunak</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Oke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Parth</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Medhi</a:t>
                      </a:r>
                      <a:endParaRPr lang="en-US" dirty="0"/>
                    </a:p>
                  </a:txBody>
                  <a:tcPr marL="68580" marR="68580"/>
                </a:tc>
                <a:tc>
                  <a:txBody>
                    <a:bodyPr/>
                    <a:lstStyle/>
                    <a:p>
                      <a:r>
                        <a:rPr lang="en-US"/>
                        <a:t>2018</a:t>
                      </a:r>
                      <a:endParaRPr lang="en-US" dirty="0"/>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This project focuses on building a home security system which will be wireless. Security over a network is achieved using AES encryption. Security of house is managed by sending notifications to the user using Internet in case of any trespasser and it can also ring an alarm if required. Home automation is utilized by using appropriate sensors installed around house. Raspberry pi is used as a server and controller. Raspberry pi has task of controlling electrical appliances and providing authentication and security to user.</a:t>
                      </a:r>
                      <a:endParaRPr lang="en-IN" dirty="0">
                        <a:latin typeface="Times New Roman" panose="02020603050405020304" pitchFamily="18" charset="0"/>
                        <a:cs typeface="Times New Roman" panose="02020603050405020304" pitchFamily="18" charset="0"/>
                      </a:endParaRPr>
                    </a:p>
                    <a:p>
                      <a:endParaRPr lang="en-US" dirty="0"/>
                    </a:p>
                  </a:txBody>
                  <a:tcPr marL="68580" marR="6858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09854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9075" y="212726"/>
            <a:ext cx="8810625" cy="650875"/>
          </a:xfrm>
        </p:spPr>
        <p:txBody>
          <a:bodyPr>
            <a:normAutofit/>
          </a:bodyPr>
          <a:lstStyle/>
          <a:p>
            <a:pPr algn="ctr"/>
            <a:r>
              <a:rPr lang="en-US" sz="3200" b="1" dirty="0">
                <a:latin typeface="Times New Roman" pitchFamily="18" charset="0"/>
                <a:cs typeface="Times New Roman" pitchFamily="18" charset="0"/>
              </a:rPr>
              <a:t>LITERATURE SURVEY 2 </a:t>
            </a:r>
          </a:p>
        </p:txBody>
      </p:sp>
      <p:graphicFrame>
        <p:nvGraphicFramePr>
          <p:cNvPr id="6" name="Table 5"/>
          <p:cNvGraphicFramePr>
            <a:graphicFrameLocks noGrp="1"/>
          </p:cNvGraphicFramePr>
          <p:nvPr>
            <p:extLst>
              <p:ext uri="{D42A27DB-BD31-4B8C-83A1-F6EECF244321}">
                <p14:modId xmlns:p14="http://schemas.microsoft.com/office/powerpoint/2010/main" val="4198748317"/>
              </p:ext>
            </p:extLst>
          </p:nvPr>
        </p:nvGraphicFramePr>
        <p:xfrm>
          <a:off x="295275" y="1037166"/>
          <a:ext cx="8524876" cy="5439834"/>
        </p:xfrm>
        <a:graphic>
          <a:graphicData uri="http://schemas.openxmlformats.org/drawingml/2006/table">
            <a:tbl>
              <a:tblPr firstRow="1" bandRow="1">
                <a:tableStyleId>{5C22544A-7EE6-4342-B048-85BDC9FD1C3A}</a:tableStyleId>
              </a:tblPr>
              <a:tblGrid>
                <a:gridCol w="61912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790951">
                  <a:extLst>
                    <a:ext uri="{9D8B030D-6E8A-4147-A177-3AD203B41FA5}">
                      <a16:colId xmlns:a16="http://schemas.microsoft.com/office/drawing/2014/main" val="20004"/>
                    </a:ext>
                  </a:extLst>
                </a:gridCol>
              </a:tblGrid>
              <a:tr h="920806">
                <a:tc>
                  <a:txBody>
                    <a:bodyPr/>
                    <a:lstStyle/>
                    <a:p>
                      <a:r>
                        <a:rPr lang="en-US" dirty="0">
                          <a:latin typeface="Times New Roman" pitchFamily="18" charset="0"/>
                          <a:cs typeface="Times New Roman" pitchFamily="18" charset="0"/>
                        </a:rPr>
                        <a:t>S.NO</a:t>
                      </a:r>
                    </a:p>
                  </a:txBody>
                  <a:tcPr marL="68580" marR="68580"/>
                </a:tc>
                <a:tc>
                  <a:txBody>
                    <a:bodyPr/>
                    <a:lstStyle/>
                    <a:p>
                      <a:r>
                        <a:rPr lang="en-US" dirty="0">
                          <a:latin typeface="Times New Roman" pitchFamily="18" charset="0"/>
                          <a:cs typeface="Times New Roman" pitchFamily="18" charset="0"/>
                        </a:rPr>
                        <a:t>TITLE </a:t>
                      </a:r>
                    </a:p>
                  </a:txBody>
                  <a:tcPr marL="68580" marR="68580"/>
                </a:tc>
                <a:tc>
                  <a:txBody>
                    <a:bodyPr/>
                    <a:lstStyle/>
                    <a:p>
                      <a:r>
                        <a:rPr lang="en-US" dirty="0">
                          <a:latin typeface="Times New Roman" pitchFamily="18" charset="0"/>
                          <a:cs typeface="Times New Roman" pitchFamily="18" charset="0"/>
                        </a:rPr>
                        <a:t>NAME</a:t>
                      </a:r>
                    </a:p>
                  </a:txBody>
                  <a:tcPr marL="68580" marR="68580"/>
                </a:tc>
                <a:tc>
                  <a:txBody>
                    <a:bodyPr/>
                    <a:lstStyle/>
                    <a:p>
                      <a:r>
                        <a:rPr lang="en-US" dirty="0">
                          <a:latin typeface="Times New Roman" pitchFamily="18" charset="0"/>
                          <a:cs typeface="Times New Roman" pitchFamily="18" charset="0"/>
                        </a:rPr>
                        <a:t>YEAR</a:t>
                      </a:r>
                    </a:p>
                  </a:txBody>
                  <a:tcPr marL="68580" marR="68580"/>
                </a:tc>
                <a:tc>
                  <a:txBody>
                    <a:bodyPr/>
                    <a:lstStyle/>
                    <a:p>
                      <a:r>
                        <a:rPr lang="en-US" dirty="0">
                          <a:latin typeface="Times New Roman" pitchFamily="18" charset="0"/>
                          <a:cs typeface="Times New Roman" pitchFamily="18" charset="0"/>
                        </a:rPr>
                        <a:t>REMARKS</a:t>
                      </a:r>
                    </a:p>
                  </a:txBody>
                  <a:tcPr marL="68580" marR="68580"/>
                </a:tc>
                <a:extLst>
                  <a:ext uri="{0D108BD9-81ED-4DB2-BD59-A6C34878D82A}">
                    <a16:rowId xmlns:a16="http://schemas.microsoft.com/office/drawing/2014/main" val="10000"/>
                  </a:ext>
                </a:extLst>
              </a:tr>
              <a:tr h="4519028">
                <a:tc>
                  <a:txBody>
                    <a:bodyPr/>
                    <a:lstStyle/>
                    <a:p>
                      <a:r>
                        <a:rPr lang="en-US" dirty="0">
                          <a:latin typeface="Times New Roman" pitchFamily="18" charset="0"/>
                          <a:cs typeface="Times New Roman" pitchFamily="18" charset="0"/>
                        </a:rPr>
                        <a:t>2</a:t>
                      </a:r>
                    </a:p>
                  </a:txBody>
                  <a:tcPr marL="68580" marR="68580"/>
                </a:tc>
                <a:tc>
                  <a:txBody>
                    <a:bodyPr/>
                    <a:lstStyle/>
                    <a:p>
                      <a:r>
                        <a:rPr lang="en-US">
                          <a:latin typeface="Times New Roman" panose="02020603050405020304" pitchFamily="18" charset="0"/>
                          <a:cs typeface="Times New Roman" panose="02020603050405020304" pitchFamily="18" charset="0"/>
                        </a:rPr>
                        <a:t>A Smart Home Automation and Metering System using Internet of Things (IoT)</a:t>
                      </a:r>
                      <a:endParaRPr lang="en-US" dirty="0">
                        <a:latin typeface="Times New Roman" panose="02020603050405020304" pitchFamily="18" charset="0"/>
                        <a:cs typeface="Times New Roman" panose="02020603050405020304" pitchFamily="18" charset="0"/>
                      </a:endParaRPr>
                    </a:p>
                  </a:txBody>
                  <a:tcPr marL="68580" marR="68580"/>
                </a:tc>
                <a:tc>
                  <a:txBody>
                    <a:bodyPr/>
                    <a:lstStyle/>
                    <a:p>
                      <a:r>
                        <a:rPr lang="en-IN">
                          <a:latin typeface="Times New Roman" panose="02020603050405020304" pitchFamily="18" charset="0"/>
                          <a:cs typeface="Times New Roman" panose="02020603050405020304" pitchFamily="18" charset="0"/>
                        </a:rPr>
                        <a:t>Sadi Mahmud , Safayet Ahmed , Kawshik Shikder , American International UniversityBangladesh Dhaka, Bangladesh </a:t>
                      </a:r>
                      <a:endParaRPr lang="en-US" dirty="0">
                        <a:latin typeface="Times New Roman" pitchFamily="18" charset="0"/>
                        <a:cs typeface="Times New Roman" pitchFamily="18" charset="0"/>
                      </a:endParaRPr>
                    </a:p>
                  </a:txBody>
                  <a:tcPr marL="68580" marR="68580"/>
                </a:tc>
                <a:tc>
                  <a:txBody>
                    <a:bodyPr/>
                    <a:lstStyle/>
                    <a:p>
                      <a:r>
                        <a:rPr lang="en-US">
                          <a:latin typeface="Times New Roman" pitchFamily="18" charset="0"/>
                          <a:cs typeface="Times New Roman" pitchFamily="18" charset="0"/>
                        </a:rPr>
                        <a:t>2019</a:t>
                      </a:r>
                      <a:endParaRPr lang="en-US" dirty="0">
                        <a:latin typeface="Times New Roman" pitchFamily="18" charset="0"/>
                        <a:cs typeface="Times New Roman" pitchFamily="18" charset="0"/>
                      </a:endParaRPr>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This paper discussed a smart low-cost home automation system which is designed using IoT. With the help of this system, all the home appliances and electronic machines can be controlled and observed through a website very easily. The metering method of a home can also be supervised using this system. Not only the consumers but also the dealers will get the opportunity to observe the anomalies of the power distribution system by watching the metering system. Online billing system also included in the designed system. </a:t>
                      </a:r>
                      <a:endParaRPr lang="en-IN" dirty="0">
                        <a:latin typeface="Times New Roman" panose="02020603050405020304" pitchFamily="18" charset="0"/>
                        <a:cs typeface="Times New Roman" panose="02020603050405020304" pitchFamily="18" charset="0"/>
                      </a:endParaRPr>
                    </a:p>
                    <a:p>
                      <a:endParaRPr lang="en-US" dirty="0">
                        <a:latin typeface="Times New Roman" pitchFamily="18" charset="0"/>
                        <a:cs typeface="Times New Roman" pitchFamily="18" charset="0"/>
                      </a:endParaRPr>
                    </a:p>
                  </a:txBody>
                  <a:tcPr marL="68580" marR="6858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62894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4300" y="149226"/>
            <a:ext cx="8743950" cy="574675"/>
          </a:xfrm>
        </p:spPr>
        <p:txBody>
          <a:bodyPr>
            <a:normAutofit fontScale="90000"/>
          </a:bodyPr>
          <a:lstStyle/>
          <a:p>
            <a:pPr algn="ctr"/>
            <a:r>
              <a:rPr lang="en-US" sz="3600" b="1" dirty="0">
                <a:latin typeface="Times New Roman" pitchFamily="18" charset="0"/>
                <a:cs typeface="Times New Roman" pitchFamily="18" charset="0"/>
              </a:rPr>
              <a:t>LITERATURE SURVEY 3</a:t>
            </a:r>
          </a:p>
        </p:txBody>
      </p:sp>
      <p:graphicFrame>
        <p:nvGraphicFramePr>
          <p:cNvPr id="8" name="Table 7"/>
          <p:cNvGraphicFramePr>
            <a:graphicFrameLocks noGrp="1"/>
          </p:cNvGraphicFramePr>
          <p:nvPr>
            <p:extLst>
              <p:ext uri="{D42A27DB-BD31-4B8C-83A1-F6EECF244321}">
                <p14:modId xmlns:p14="http://schemas.microsoft.com/office/powerpoint/2010/main" val="2979404537"/>
              </p:ext>
            </p:extLst>
          </p:nvPr>
        </p:nvGraphicFramePr>
        <p:xfrm>
          <a:off x="342900" y="1151466"/>
          <a:ext cx="8524876" cy="5439834"/>
        </p:xfrm>
        <a:graphic>
          <a:graphicData uri="http://schemas.openxmlformats.org/drawingml/2006/table">
            <a:tbl>
              <a:tblPr firstRow="1" bandRow="1">
                <a:tableStyleId>{5C22544A-7EE6-4342-B048-85BDC9FD1C3A}</a:tableStyleId>
              </a:tblPr>
              <a:tblGrid>
                <a:gridCol w="61912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790951">
                  <a:extLst>
                    <a:ext uri="{9D8B030D-6E8A-4147-A177-3AD203B41FA5}">
                      <a16:colId xmlns:a16="http://schemas.microsoft.com/office/drawing/2014/main" val="20004"/>
                    </a:ext>
                  </a:extLst>
                </a:gridCol>
              </a:tblGrid>
              <a:tr h="920806">
                <a:tc>
                  <a:txBody>
                    <a:bodyPr/>
                    <a:lstStyle/>
                    <a:p>
                      <a:r>
                        <a:rPr lang="en-US" sz="2000" dirty="0">
                          <a:latin typeface="Times New Roman" pitchFamily="18" charset="0"/>
                          <a:cs typeface="Times New Roman" pitchFamily="18" charset="0"/>
                        </a:rPr>
                        <a:t>S.NO</a:t>
                      </a:r>
                    </a:p>
                  </a:txBody>
                  <a:tcPr marL="68580" marR="68580"/>
                </a:tc>
                <a:tc>
                  <a:txBody>
                    <a:bodyPr/>
                    <a:lstStyle/>
                    <a:p>
                      <a:r>
                        <a:rPr lang="en-US" sz="2000" dirty="0">
                          <a:latin typeface="Times New Roman" pitchFamily="18" charset="0"/>
                          <a:cs typeface="Times New Roman" pitchFamily="18" charset="0"/>
                        </a:rPr>
                        <a:t>TITLE </a:t>
                      </a:r>
                    </a:p>
                  </a:txBody>
                  <a:tcPr marL="68580" marR="68580"/>
                </a:tc>
                <a:tc>
                  <a:txBody>
                    <a:bodyPr/>
                    <a:lstStyle/>
                    <a:p>
                      <a:r>
                        <a:rPr lang="en-US" sz="2000" dirty="0">
                          <a:latin typeface="Times New Roman" pitchFamily="18" charset="0"/>
                          <a:cs typeface="Times New Roman" pitchFamily="18" charset="0"/>
                        </a:rPr>
                        <a:t>NAME</a:t>
                      </a:r>
                    </a:p>
                  </a:txBody>
                  <a:tcPr marL="68580" marR="68580"/>
                </a:tc>
                <a:tc>
                  <a:txBody>
                    <a:bodyPr/>
                    <a:lstStyle/>
                    <a:p>
                      <a:r>
                        <a:rPr lang="en-US" sz="2000" dirty="0">
                          <a:latin typeface="Times New Roman" pitchFamily="18" charset="0"/>
                          <a:cs typeface="Times New Roman" pitchFamily="18" charset="0"/>
                        </a:rPr>
                        <a:t>YEAR</a:t>
                      </a:r>
                    </a:p>
                  </a:txBody>
                  <a:tcPr marL="68580" marR="68580"/>
                </a:tc>
                <a:tc>
                  <a:txBody>
                    <a:bodyPr/>
                    <a:lstStyle/>
                    <a:p>
                      <a:r>
                        <a:rPr lang="en-US" sz="2000" dirty="0">
                          <a:latin typeface="Times New Roman" pitchFamily="18" charset="0"/>
                          <a:cs typeface="Times New Roman" pitchFamily="18" charset="0"/>
                        </a:rPr>
                        <a:t>REMARKS</a:t>
                      </a:r>
                    </a:p>
                  </a:txBody>
                  <a:tcPr marL="68580" marR="68580"/>
                </a:tc>
                <a:extLst>
                  <a:ext uri="{0D108BD9-81ED-4DB2-BD59-A6C34878D82A}">
                    <a16:rowId xmlns:a16="http://schemas.microsoft.com/office/drawing/2014/main" val="10000"/>
                  </a:ext>
                </a:extLst>
              </a:tr>
              <a:tr h="4519028">
                <a:tc>
                  <a:txBody>
                    <a:bodyPr/>
                    <a:lstStyle/>
                    <a:p>
                      <a:r>
                        <a:rPr lang="en-US" sz="2000" dirty="0">
                          <a:latin typeface="Times New Roman" pitchFamily="18" charset="0"/>
                          <a:cs typeface="Times New Roman" pitchFamily="18" charset="0"/>
                        </a:rPr>
                        <a:t>3</a:t>
                      </a:r>
                    </a:p>
                  </a:txBody>
                  <a:tcPr marL="68580" marR="68580"/>
                </a:tc>
                <a:tc>
                  <a:txBody>
                    <a:bodyPr/>
                    <a:lstStyle/>
                    <a:p>
                      <a:r>
                        <a:rPr lang="en-US" sz="2000">
                          <a:latin typeface="Times New Roman" panose="02020603050405020304" pitchFamily="18" charset="0"/>
                          <a:cs typeface="Times New Roman" panose="02020603050405020304" pitchFamily="18" charset="0"/>
                        </a:rPr>
                        <a:t>Mobile based Home Automation using Internet of Things(IoT) </a:t>
                      </a:r>
                      <a:endParaRPr lang="en-US" sz="2000" dirty="0">
                        <a:latin typeface="Times New Roman" panose="02020603050405020304" pitchFamily="18" charset="0"/>
                        <a:cs typeface="Times New Roman" panose="02020603050405020304" pitchFamily="18" charset="0"/>
                      </a:endParaRPr>
                    </a:p>
                  </a:txBody>
                  <a:tcPr marL="68580" marR="68580"/>
                </a:tc>
                <a:tc>
                  <a:txBody>
                    <a:bodyPr/>
                    <a:lstStyle/>
                    <a:p>
                      <a:r>
                        <a:rPr lang="en-IN" sz="2000">
                          <a:latin typeface="Times New Roman" panose="02020603050405020304" pitchFamily="18" charset="0"/>
                          <a:cs typeface="Times New Roman" panose="02020603050405020304" pitchFamily="18" charset="0"/>
                        </a:rPr>
                        <a:t>Kumar Mandula, Ramu Parupalli, CH.A.S.Murty, E.Magesh, Rutul Lunagariya </a:t>
                      </a:r>
                      <a:endParaRPr lang="en-US" sz="2000" dirty="0">
                        <a:latin typeface="Times New Roman" pitchFamily="18" charset="0"/>
                        <a:cs typeface="Times New Roman" pitchFamily="18" charset="0"/>
                      </a:endParaRPr>
                    </a:p>
                  </a:txBody>
                  <a:tcPr marL="68580" marR="68580"/>
                </a:tc>
                <a:tc>
                  <a:txBody>
                    <a:bodyPr/>
                    <a:lstStyle/>
                    <a:p>
                      <a:r>
                        <a:rPr lang="en-US" sz="2000">
                          <a:latin typeface="Times New Roman" pitchFamily="18" charset="0"/>
                          <a:cs typeface="Times New Roman" pitchFamily="18" charset="0"/>
                        </a:rPr>
                        <a:t>2018</a:t>
                      </a:r>
                      <a:endParaRPr lang="en-US" sz="2000" dirty="0">
                        <a:latin typeface="Times New Roman" pitchFamily="18" charset="0"/>
                        <a:cs typeface="Times New Roman" pitchFamily="18" charset="0"/>
                      </a:endParaRPr>
                    </a:p>
                  </a:txBody>
                  <a:tcPr marL="68580" marR="68580"/>
                </a:tc>
                <a:tc>
                  <a:txBody>
                    <a:bodyPr/>
                    <a:lstStyle/>
                    <a:p>
                      <a:r>
                        <a:rPr lang="en-US" sz="2000" dirty="0">
                          <a:latin typeface="Times New Roman" panose="02020603050405020304" pitchFamily="18" charset="0"/>
                          <a:cs typeface="Times New Roman" panose="02020603050405020304" pitchFamily="18" charset="0"/>
                        </a:rPr>
                        <a:t>This paper discusses about </a:t>
                      </a:r>
                      <a:r>
                        <a:rPr lang="en-US" sz="2000" dirty="0" err="1">
                          <a:latin typeface="Times New Roman" panose="02020603050405020304" pitchFamily="18" charset="0"/>
                          <a:cs typeface="Times New Roman" panose="02020603050405020304" pitchFamily="18" charset="0"/>
                        </a:rPr>
                        <a:t>loT</a:t>
                      </a:r>
                      <a:r>
                        <a:rPr lang="en-US" sz="2000" dirty="0">
                          <a:latin typeface="Times New Roman" panose="02020603050405020304" pitchFamily="18" charset="0"/>
                          <a:cs typeface="Times New Roman" panose="02020603050405020304" pitchFamily="18" charset="0"/>
                        </a:rPr>
                        <a:t> and how it can be used for realizing smart </a:t>
                      </a:r>
                      <a:r>
                        <a:rPr lang="en-US" sz="2000" dirty="0" err="1">
                          <a:latin typeface="Times New Roman" panose="02020603050405020304" pitchFamily="18" charset="0"/>
                          <a:cs typeface="Times New Roman" panose="02020603050405020304" pitchFamily="18" charset="0"/>
                        </a:rPr>
                        <a:t>horne</a:t>
                      </a:r>
                      <a:r>
                        <a:rPr lang="en-US" sz="2000" dirty="0">
                          <a:latin typeface="Times New Roman" panose="02020603050405020304" pitchFamily="18" charset="0"/>
                          <a:cs typeface="Times New Roman" panose="02020603050405020304" pitchFamily="18" charset="0"/>
                        </a:rPr>
                        <a:t> automation using a micro-controller based Arduino board and Android mobile app. In this paper, two prototypes namely </a:t>
                      </a:r>
                      <a:r>
                        <a:rPr lang="en-US" sz="2000" dirty="0" err="1">
                          <a:latin typeface="Times New Roman" panose="02020603050405020304" pitchFamily="18" charset="0"/>
                          <a:cs typeface="Times New Roman" panose="02020603050405020304" pitchFamily="18" charset="0"/>
                        </a:rPr>
                        <a:t>horne</a:t>
                      </a:r>
                      <a:r>
                        <a:rPr lang="en-US" sz="2000" dirty="0">
                          <a:latin typeface="Times New Roman" panose="02020603050405020304" pitchFamily="18" charset="0"/>
                          <a:cs typeface="Times New Roman" panose="02020603050405020304" pitchFamily="18" charset="0"/>
                        </a:rPr>
                        <a:t> automation using Bluetooth in an indoor environment and </a:t>
                      </a:r>
                      <a:r>
                        <a:rPr lang="en-US" sz="2000" dirty="0" err="1">
                          <a:latin typeface="Times New Roman" panose="02020603050405020304" pitchFamily="18" charset="0"/>
                          <a:cs typeface="Times New Roman" panose="02020603050405020304" pitchFamily="18" charset="0"/>
                        </a:rPr>
                        <a:t>horne</a:t>
                      </a:r>
                      <a:r>
                        <a:rPr lang="en-US" sz="2000" dirty="0">
                          <a:latin typeface="Times New Roman" panose="02020603050405020304" pitchFamily="18" charset="0"/>
                          <a:cs typeface="Times New Roman" panose="02020603050405020304" pitchFamily="18" charset="0"/>
                        </a:rPr>
                        <a:t> automation using Ethernet in an outdoor environment are presented</a:t>
                      </a:r>
                    </a:p>
                  </a:txBody>
                  <a:tcPr marL="68580" marR="6858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6304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4300" y="149226"/>
            <a:ext cx="8743950" cy="574675"/>
          </a:xfrm>
        </p:spPr>
        <p:txBody>
          <a:bodyPr>
            <a:normAutofit fontScale="90000"/>
          </a:bodyPr>
          <a:lstStyle/>
          <a:p>
            <a:pPr algn="ctr"/>
            <a:r>
              <a:rPr lang="en-US" sz="3600" b="1" dirty="0">
                <a:latin typeface="Times New Roman" pitchFamily="18" charset="0"/>
                <a:cs typeface="Times New Roman" pitchFamily="18" charset="0"/>
              </a:rPr>
              <a:t>LITERATURE SURVEY 3</a:t>
            </a:r>
          </a:p>
        </p:txBody>
      </p:sp>
      <p:graphicFrame>
        <p:nvGraphicFramePr>
          <p:cNvPr id="8" name="Table 7"/>
          <p:cNvGraphicFramePr>
            <a:graphicFrameLocks noGrp="1"/>
          </p:cNvGraphicFramePr>
          <p:nvPr>
            <p:extLst>
              <p:ext uri="{D42A27DB-BD31-4B8C-83A1-F6EECF244321}">
                <p14:modId xmlns:p14="http://schemas.microsoft.com/office/powerpoint/2010/main" val="3734387166"/>
              </p:ext>
            </p:extLst>
          </p:nvPr>
        </p:nvGraphicFramePr>
        <p:xfrm>
          <a:off x="342900" y="1151466"/>
          <a:ext cx="8524876" cy="6498646"/>
        </p:xfrm>
        <a:graphic>
          <a:graphicData uri="http://schemas.openxmlformats.org/drawingml/2006/table">
            <a:tbl>
              <a:tblPr firstRow="1" bandRow="1">
                <a:tableStyleId>{5C22544A-7EE6-4342-B048-85BDC9FD1C3A}</a:tableStyleId>
              </a:tblPr>
              <a:tblGrid>
                <a:gridCol w="61912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790951">
                  <a:extLst>
                    <a:ext uri="{9D8B030D-6E8A-4147-A177-3AD203B41FA5}">
                      <a16:colId xmlns:a16="http://schemas.microsoft.com/office/drawing/2014/main" val="20004"/>
                    </a:ext>
                  </a:extLst>
                </a:gridCol>
              </a:tblGrid>
              <a:tr h="920806">
                <a:tc>
                  <a:txBody>
                    <a:bodyPr/>
                    <a:lstStyle/>
                    <a:p>
                      <a:r>
                        <a:rPr lang="en-US" sz="2000" dirty="0">
                          <a:latin typeface="Times New Roman" pitchFamily="18" charset="0"/>
                          <a:cs typeface="Times New Roman" pitchFamily="18" charset="0"/>
                        </a:rPr>
                        <a:t>S.NO</a:t>
                      </a:r>
                    </a:p>
                  </a:txBody>
                  <a:tcPr marL="68580" marR="68580"/>
                </a:tc>
                <a:tc>
                  <a:txBody>
                    <a:bodyPr/>
                    <a:lstStyle/>
                    <a:p>
                      <a:r>
                        <a:rPr lang="en-US" sz="2000" dirty="0">
                          <a:latin typeface="Times New Roman" pitchFamily="18" charset="0"/>
                          <a:cs typeface="Times New Roman" pitchFamily="18" charset="0"/>
                        </a:rPr>
                        <a:t>TITLE </a:t>
                      </a:r>
                    </a:p>
                  </a:txBody>
                  <a:tcPr marL="68580" marR="68580"/>
                </a:tc>
                <a:tc>
                  <a:txBody>
                    <a:bodyPr/>
                    <a:lstStyle/>
                    <a:p>
                      <a:r>
                        <a:rPr lang="en-US" sz="2000" dirty="0">
                          <a:latin typeface="Times New Roman" pitchFamily="18" charset="0"/>
                          <a:cs typeface="Times New Roman" pitchFamily="18" charset="0"/>
                        </a:rPr>
                        <a:t>NAME</a:t>
                      </a:r>
                    </a:p>
                  </a:txBody>
                  <a:tcPr marL="68580" marR="68580"/>
                </a:tc>
                <a:tc>
                  <a:txBody>
                    <a:bodyPr/>
                    <a:lstStyle/>
                    <a:p>
                      <a:r>
                        <a:rPr lang="en-US" sz="2000" dirty="0">
                          <a:latin typeface="Times New Roman" pitchFamily="18" charset="0"/>
                          <a:cs typeface="Times New Roman" pitchFamily="18" charset="0"/>
                        </a:rPr>
                        <a:t>YEAR</a:t>
                      </a:r>
                    </a:p>
                  </a:txBody>
                  <a:tcPr marL="68580" marR="68580"/>
                </a:tc>
                <a:tc>
                  <a:txBody>
                    <a:bodyPr/>
                    <a:lstStyle/>
                    <a:p>
                      <a:r>
                        <a:rPr lang="en-US" sz="2000" dirty="0">
                          <a:latin typeface="Times New Roman" pitchFamily="18" charset="0"/>
                          <a:cs typeface="Times New Roman" pitchFamily="18" charset="0"/>
                        </a:rPr>
                        <a:t>REMARKS</a:t>
                      </a:r>
                    </a:p>
                  </a:txBody>
                  <a:tcPr marL="68580" marR="68580"/>
                </a:tc>
                <a:extLst>
                  <a:ext uri="{0D108BD9-81ED-4DB2-BD59-A6C34878D82A}">
                    <a16:rowId xmlns:a16="http://schemas.microsoft.com/office/drawing/2014/main" val="10000"/>
                  </a:ext>
                </a:extLst>
              </a:tr>
              <a:tr h="4519028">
                <a:tc>
                  <a:txBody>
                    <a:bodyPr/>
                    <a:lstStyle/>
                    <a:p>
                      <a:r>
                        <a:rPr lang="en-US" sz="2000" dirty="0">
                          <a:latin typeface="Times New Roman" pitchFamily="18" charset="0"/>
                          <a:cs typeface="Times New Roman" pitchFamily="18" charset="0"/>
                        </a:rPr>
                        <a:t>4</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An IoT-Based Home Automation System Using Wi-Fi Wireless Sensor Networks</a:t>
                      </a:r>
                    </a:p>
                    <a:p>
                      <a:endParaRPr lang="en-US" sz="2000" b="1" dirty="0">
                        <a:latin typeface="Times New Roman" panose="02020603050405020304" pitchFamily="18" charset="0"/>
                        <a:cs typeface="Times New Roman" panose="02020603050405020304" pitchFamily="18" charset="0"/>
                      </a:endParaRPr>
                    </a:p>
                  </a:txBody>
                  <a:tcPr marL="68580" marR="68580"/>
                </a:tc>
                <a:tc>
                  <a:txBody>
                    <a:bodyPr/>
                    <a:lstStyle/>
                    <a:p>
                      <a:r>
                        <a:rPr lang="en-US" sz="1800" b="0" i="0" u="sng" kern="1200" dirty="0" err="1">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Chwan</a:t>
                      </a:r>
                      <a:r>
                        <a:rPr lang="en-US" sz="1800" b="0" i="0" u="sng" kern="1200" dirty="0">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-Lu Tseng </a:t>
                      </a:r>
                      <a:endParaRPr lang="en-US" sz="1800" b="0" i="0" kern="1200" dirty="0">
                        <a:solidFill>
                          <a:schemeClr val="tx1"/>
                        </a:solidFill>
                        <a:effectLst/>
                        <a:latin typeface="+mn-lt"/>
                        <a:ea typeface="+mn-ea"/>
                        <a:cs typeface="+mn-cs"/>
                      </a:endParaRPr>
                    </a:p>
                    <a:p>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3">
                            <a:extLst>
                              <a:ext uri="{A12FA001-AC4F-418D-AE19-62706E023703}">
                                <ahyp:hlinkClr xmlns="" xmlns:ahyp="http://schemas.microsoft.com/office/drawing/2018/hyperlinkcolor" val="tx"/>
                              </a:ext>
                            </a:extLst>
                          </a:hlinkClick>
                        </a:rPr>
                        <a:t>Che-Shen Cheng </a:t>
                      </a:r>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4">
                            <a:extLst>
                              <a:ext uri="{A12FA001-AC4F-418D-AE19-62706E023703}">
                                <ahyp:hlinkClr xmlns="" xmlns:ahyp="http://schemas.microsoft.com/office/drawing/2018/hyperlinkcolor" val="tx"/>
                              </a:ext>
                            </a:extLst>
                          </a:hlinkClick>
                        </a:rPr>
                        <a:t>Yu-Hsien Hsu </a:t>
                      </a:r>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5">
                            <a:extLst>
                              <a:ext uri="{A12FA001-AC4F-418D-AE19-62706E023703}">
                                <ahyp:hlinkClr xmlns="" xmlns:ahyp="http://schemas.microsoft.com/office/drawing/2018/hyperlinkcolor" val="tx"/>
                              </a:ext>
                            </a:extLst>
                          </a:hlinkClick>
                        </a:rPr>
                        <a:t>Bing-Hung Yang</a:t>
                      </a:r>
                      <a:endParaRPr lang="en-US" sz="2000" b="0" dirty="0">
                        <a:solidFill>
                          <a:schemeClr val="tx1"/>
                        </a:solidFill>
                        <a:latin typeface="Times New Roman" pitchFamily="18" charset="0"/>
                        <a:cs typeface="Times New Roman" pitchFamily="18" charset="0"/>
                      </a:endParaRPr>
                    </a:p>
                  </a:txBody>
                  <a:tcPr marL="68580" marR="68580"/>
                </a:tc>
                <a:tc>
                  <a:txBody>
                    <a:bodyPr/>
                    <a:lstStyle/>
                    <a:p>
                      <a:r>
                        <a:rPr lang="en-US" sz="2000" dirty="0">
                          <a:latin typeface="Times New Roman" pitchFamily="18" charset="0"/>
                          <a:cs typeface="Times New Roman" pitchFamily="18" charset="0"/>
                        </a:rPr>
                        <a:t>2018</a:t>
                      </a:r>
                    </a:p>
                  </a:txBody>
                  <a:tcPr marL="68580" marR="68580"/>
                </a:tc>
                <a:tc>
                  <a:txBody>
                    <a:bodyPr/>
                    <a:lstStyle/>
                    <a:p>
                      <a:r>
                        <a:rPr lang="en-US" sz="1800" b="0" i="0" kern="1200" dirty="0">
                          <a:solidFill>
                            <a:schemeClr val="dk1"/>
                          </a:solidFill>
                          <a:effectLst/>
                          <a:latin typeface="+mn-lt"/>
                          <a:ea typeface="+mn-ea"/>
                          <a:cs typeface="+mn-cs"/>
                        </a:rPr>
                        <a:t>With the Chatbot API, this paper proposes an IoT-based home automation system. The Chatbot simplifies the user interface and allows users being able to control each device at home by way of chatting with Chatbot. To build up the system, the Line messaging API is adopted to conduct smart home applications. After the user interacts with Chatbot, Line Server transmits the conversation message to the back-end analysis platform through HTTPS secure transmission. Once the platform analyzes the messages and makes relevant decisions, control messages will be transmitted to the central control board through MQTT communication to control various appliances at home. </a:t>
                      </a:r>
                      <a:endParaRPr lang="en-US" sz="2000" dirty="0">
                        <a:latin typeface="Times New Roman" panose="02020603050405020304" pitchFamily="18" charset="0"/>
                        <a:cs typeface="Times New Roman" panose="02020603050405020304" pitchFamily="18" charset="0"/>
                      </a:endParaRPr>
                    </a:p>
                  </a:txBody>
                  <a:tcPr marL="68580" marR="6858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4822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4300" y="149226"/>
            <a:ext cx="8743950" cy="574675"/>
          </a:xfrm>
        </p:spPr>
        <p:txBody>
          <a:bodyPr>
            <a:normAutofit fontScale="90000"/>
          </a:bodyPr>
          <a:lstStyle/>
          <a:p>
            <a:pPr algn="ctr"/>
            <a:r>
              <a:rPr lang="en-US" sz="3600" b="1" dirty="0">
                <a:latin typeface="Times New Roman" pitchFamily="18" charset="0"/>
                <a:cs typeface="Times New Roman" pitchFamily="18" charset="0"/>
              </a:rPr>
              <a:t>LITERATURE SURVEY 3</a:t>
            </a:r>
          </a:p>
        </p:txBody>
      </p:sp>
      <p:graphicFrame>
        <p:nvGraphicFramePr>
          <p:cNvPr id="8" name="Table 7"/>
          <p:cNvGraphicFramePr>
            <a:graphicFrameLocks noGrp="1"/>
          </p:cNvGraphicFramePr>
          <p:nvPr>
            <p:extLst>
              <p:ext uri="{D42A27DB-BD31-4B8C-83A1-F6EECF244321}">
                <p14:modId xmlns:p14="http://schemas.microsoft.com/office/powerpoint/2010/main" val="2349157559"/>
              </p:ext>
            </p:extLst>
          </p:nvPr>
        </p:nvGraphicFramePr>
        <p:xfrm>
          <a:off x="342900" y="1151466"/>
          <a:ext cx="8524876" cy="6498646"/>
        </p:xfrm>
        <a:graphic>
          <a:graphicData uri="http://schemas.openxmlformats.org/drawingml/2006/table">
            <a:tbl>
              <a:tblPr firstRow="1" bandRow="1">
                <a:tableStyleId>{5C22544A-7EE6-4342-B048-85BDC9FD1C3A}</a:tableStyleId>
              </a:tblPr>
              <a:tblGrid>
                <a:gridCol w="61912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3790951">
                  <a:extLst>
                    <a:ext uri="{9D8B030D-6E8A-4147-A177-3AD203B41FA5}">
                      <a16:colId xmlns:a16="http://schemas.microsoft.com/office/drawing/2014/main" val="20004"/>
                    </a:ext>
                  </a:extLst>
                </a:gridCol>
              </a:tblGrid>
              <a:tr h="920806">
                <a:tc>
                  <a:txBody>
                    <a:bodyPr/>
                    <a:lstStyle/>
                    <a:p>
                      <a:r>
                        <a:rPr lang="en-US" sz="2000" dirty="0">
                          <a:latin typeface="Times New Roman" pitchFamily="18" charset="0"/>
                          <a:cs typeface="Times New Roman" pitchFamily="18" charset="0"/>
                        </a:rPr>
                        <a:t>S.NO</a:t>
                      </a:r>
                    </a:p>
                  </a:txBody>
                  <a:tcPr marL="68580" marR="68580"/>
                </a:tc>
                <a:tc>
                  <a:txBody>
                    <a:bodyPr/>
                    <a:lstStyle/>
                    <a:p>
                      <a:r>
                        <a:rPr lang="en-US" sz="2000" dirty="0">
                          <a:latin typeface="Times New Roman" pitchFamily="18" charset="0"/>
                          <a:cs typeface="Times New Roman" pitchFamily="18" charset="0"/>
                        </a:rPr>
                        <a:t>TITLE </a:t>
                      </a:r>
                    </a:p>
                  </a:txBody>
                  <a:tcPr marL="68580" marR="68580"/>
                </a:tc>
                <a:tc>
                  <a:txBody>
                    <a:bodyPr/>
                    <a:lstStyle/>
                    <a:p>
                      <a:r>
                        <a:rPr lang="en-US" sz="2000" dirty="0">
                          <a:latin typeface="Times New Roman" pitchFamily="18" charset="0"/>
                          <a:cs typeface="Times New Roman" pitchFamily="18" charset="0"/>
                        </a:rPr>
                        <a:t>NAME</a:t>
                      </a:r>
                    </a:p>
                  </a:txBody>
                  <a:tcPr marL="68580" marR="68580"/>
                </a:tc>
                <a:tc>
                  <a:txBody>
                    <a:bodyPr/>
                    <a:lstStyle/>
                    <a:p>
                      <a:r>
                        <a:rPr lang="en-US" sz="2000" dirty="0">
                          <a:latin typeface="Times New Roman" pitchFamily="18" charset="0"/>
                          <a:cs typeface="Times New Roman" pitchFamily="18" charset="0"/>
                        </a:rPr>
                        <a:t>YEAR</a:t>
                      </a:r>
                    </a:p>
                  </a:txBody>
                  <a:tcPr marL="68580" marR="68580"/>
                </a:tc>
                <a:tc>
                  <a:txBody>
                    <a:bodyPr/>
                    <a:lstStyle/>
                    <a:p>
                      <a:r>
                        <a:rPr lang="en-US" sz="2000" dirty="0">
                          <a:latin typeface="Times New Roman" pitchFamily="18" charset="0"/>
                          <a:cs typeface="Times New Roman" pitchFamily="18" charset="0"/>
                        </a:rPr>
                        <a:t>REMARKS</a:t>
                      </a:r>
                    </a:p>
                  </a:txBody>
                  <a:tcPr marL="68580" marR="68580"/>
                </a:tc>
                <a:extLst>
                  <a:ext uri="{0D108BD9-81ED-4DB2-BD59-A6C34878D82A}">
                    <a16:rowId xmlns:a16="http://schemas.microsoft.com/office/drawing/2014/main" val="10000"/>
                  </a:ext>
                </a:extLst>
              </a:tr>
              <a:tr h="4519028">
                <a:tc>
                  <a:txBody>
                    <a:bodyPr/>
                    <a:lstStyle/>
                    <a:p>
                      <a:r>
                        <a:rPr lang="en-US" sz="2000" dirty="0">
                          <a:latin typeface="Times New Roman" pitchFamily="18" charset="0"/>
                          <a:cs typeface="Times New Roman" pitchFamily="18" charset="0"/>
                        </a:rPr>
                        <a:t>5</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Home Automation Using Energy Usage</a:t>
                      </a:r>
                    </a:p>
                    <a:p>
                      <a:endParaRPr lang="en-US" sz="2000" dirty="0">
                        <a:latin typeface="Times New Roman" panose="02020603050405020304" pitchFamily="18" charset="0"/>
                        <a:cs typeface="Times New Roman" panose="02020603050405020304" pitchFamily="18" charset="0"/>
                      </a:endParaRPr>
                    </a:p>
                  </a:txBody>
                  <a:tcPr marL="68580" marR="68580"/>
                </a:tc>
                <a:tc>
                  <a:txBody>
                    <a:bodyPr/>
                    <a:lstStyle/>
                    <a:p>
                      <a:r>
                        <a:rPr lang="en-US" sz="1800" b="0" i="0" u="none" strike="noStrike" kern="1200" dirty="0">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
                      </a:r>
                      <a:br>
                        <a:rPr lang="en-US" sz="1800" b="0" i="0" u="none" strike="noStrike" kern="1200" dirty="0">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br>
                      <a:r>
                        <a:rPr lang="en-US" sz="1800" b="0" i="0" u="none" strike="noStrike" kern="1200" dirty="0" err="1">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Avirup</a:t>
                      </a:r>
                      <a:r>
                        <a:rPr lang="en-US" sz="1800" b="0" i="0" u="none" strike="noStrike" kern="1200" dirty="0">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 </a:t>
                      </a:r>
                      <a:r>
                        <a:rPr lang="en-US" sz="1800" b="0" i="0" u="none" strike="noStrike" kern="1200" dirty="0" err="1">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Basu</a:t>
                      </a:r>
                      <a:r>
                        <a:rPr lang="en-US" sz="1800" b="0" i="0" u="none" strike="noStrike" kern="1200" dirty="0">
                          <a:solidFill>
                            <a:schemeClr val="tx1"/>
                          </a:solidFill>
                          <a:effectLst/>
                          <a:latin typeface="+mn-lt"/>
                          <a:ea typeface="+mn-ea"/>
                          <a:cs typeface="+mn-cs"/>
                          <a:hlinkClick r:id="rId2">
                            <a:extLst>
                              <a:ext uri="{A12FA001-AC4F-418D-AE19-62706E023703}">
                                <ahyp:hlinkClr xmlns="" xmlns:ahyp="http://schemas.microsoft.com/office/drawing/2018/hyperlinkcolor" val="tx"/>
                              </a:ext>
                            </a:extLst>
                          </a:hlinkClick>
                        </a:rPr>
                        <a:t> </a:t>
                      </a:r>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3">
                            <a:extLst>
                              <a:ext uri="{A12FA001-AC4F-418D-AE19-62706E023703}">
                                <ahyp:hlinkClr xmlns="" xmlns:ahyp="http://schemas.microsoft.com/office/drawing/2018/hyperlinkcolor" val="tx"/>
                              </a:ext>
                            </a:extLst>
                          </a:hlinkClick>
                        </a:rPr>
                        <a:t>Abhishek </a:t>
                      </a:r>
                      <a:r>
                        <a:rPr lang="en-US" sz="1800" b="0" i="0" u="none" strike="noStrike" kern="1200" dirty="0" err="1">
                          <a:solidFill>
                            <a:schemeClr val="tx1"/>
                          </a:solidFill>
                          <a:effectLst/>
                          <a:latin typeface="+mn-lt"/>
                          <a:ea typeface="+mn-ea"/>
                          <a:cs typeface="+mn-cs"/>
                          <a:hlinkClick r:id="rId3">
                            <a:extLst>
                              <a:ext uri="{A12FA001-AC4F-418D-AE19-62706E023703}">
                                <ahyp:hlinkClr xmlns="" xmlns:ahyp="http://schemas.microsoft.com/office/drawing/2018/hyperlinkcolor" val="tx"/>
                              </a:ext>
                            </a:extLst>
                          </a:hlinkClick>
                        </a:rPr>
                        <a:t>Nandy</a:t>
                      </a:r>
                      <a:r>
                        <a:rPr lang="en-US" sz="1800" b="0" i="0" u="none" strike="noStrike" kern="1200" dirty="0">
                          <a:solidFill>
                            <a:schemeClr val="tx1"/>
                          </a:solidFill>
                          <a:effectLst/>
                          <a:latin typeface="+mn-lt"/>
                          <a:ea typeface="+mn-ea"/>
                          <a:cs typeface="+mn-cs"/>
                          <a:hlinkClick r:id="rId3">
                            <a:extLst>
                              <a:ext uri="{A12FA001-AC4F-418D-AE19-62706E023703}">
                                <ahyp:hlinkClr xmlns="" xmlns:ahyp="http://schemas.microsoft.com/office/drawing/2018/hyperlinkcolor" val="tx"/>
                              </a:ext>
                            </a:extLst>
                          </a:hlinkClick>
                        </a:rPr>
                        <a:t> </a:t>
                      </a:r>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4">
                            <a:extLst>
                              <a:ext uri="{A12FA001-AC4F-418D-AE19-62706E023703}">
                                <ahyp:hlinkClr xmlns="" xmlns:ahyp="http://schemas.microsoft.com/office/drawing/2018/hyperlinkcolor" val="tx"/>
                              </a:ext>
                            </a:extLst>
                          </a:hlinkClick>
                        </a:rPr>
                        <a:t>Manisha Biswas </a:t>
                      </a:r>
                      <a:r>
                        <a:rPr lang="en-US" sz="1800" b="0" i="0" kern="1200" dirty="0">
                          <a:solidFill>
                            <a:schemeClr val="tx1"/>
                          </a:solidFill>
                          <a:effectLst/>
                          <a:latin typeface="+mn-lt"/>
                          <a:ea typeface="+mn-ea"/>
                          <a:cs typeface="+mn-cs"/>
                        </a:rPr>
                        <a:t>; </a:t>
                      </a:r>
                      <a:r>
                        <a:rPr lang="en-US" sz="1800" b="0" i="0" u="none" strike="noStrike" kern="1200" dirty="0">
                          <a:solidFill>
                            <a:schemeClr val="tx1"/>
                          </a:solidFill>
                          <a:effectLst/>
                          <a:latin typeface="+mn-lt"/>
                          <a:ea typeface="+mn-ea"/>
                          <a:cs typeface="+mn-cs"/>
                          <a:hlinkClick r:id="rId5">
                            <a:extLst>
                              <a:ext uri="{A12FA001-AC4F-418D-AE19-62706E023703}">
                                <ahyp:hlinkClr xmlns="" xmlns:ahyp="http://schemas.microsoft.com/office/drawing/2018/hyperlinkcolor" val="tx"/>
                              </a:ext>
                            </a:extLst>
                          </a:hlinkClick>
                        </a:rPr>
                        <a:t>Raja </a:t>
                      </a:r>
                      <a:r>
                        <a:rPr lang="en-US" sz="1800" b="0" i="0" u="none" strike="noStrike" kern="1200" dirty="0" err="1">
                          <a:solidFill>
                            <a:schemeClr val="tx1"/>
                          </a:solidFill>
                          <a:effectLst/>
                          <a:latin typeface="+mn-lt"/>
                          <a:ea typeface="+mn-ea"/>
                          <a:cs typeface="+mn-cs"/>
                          <a:hlinkClick r:id="rId5">
                            <a:extLst>
                              <a:ext uri="{A12FA001-AC4F-418D-AE19-62706E023703}">
                                <ahyp:hlinkClr xmlns="" xmlns:ahyp="http://schemas.microsoft.com/office/drawing/2018/hyperlinkcolor" val="tx"/>
                              </a:ext>
                            </a:extLst>
                          </a:hlinkClick>
                        </a:rPr>
                        <a:t>Nand</a:t>
                      </a:r>
                      <a:r>
                        <a:rPr lang="en-US" sz="1800" b="0" i="0" u="none" strike="noStrike" kern="1200" dirty="0">
                          <a:solidFill>
                            <a:schemeClr val="tx1"/>
                          </a:solidFill>
                          <a:effectLst/>
                          <a:latin typeface="+mn-lt"/>
                          <a:ea typeface="+mn-ea"/>
                          <a:cs typeface="+mn-cs"/>
                          <a:hlinkClick r:id="rId5">
                            <a:extLst>
                              <a:ext uri="{A12FA001-AC4F-418D-AE19-62706E023703}">
                                <ahyp:hlinkClr xmlns="" xmlns:ahyp="http://schemas.microsoft.com/office/drawing/2018/hyperlinkcolor" val="tx"/>
                              </a:ext>
                            </a:extLst>
                          </a:hlinkClick>
                        </a:rPr>
                        <a:t> Sharma </a:t>
                      </a:r>
                      <a:r>
                        <a:rPr lang="en-US" sz="1800" b="0" i="0" kern="1200" dirty="0">
                          <a:solidFill>
                            <a:schemeClr val="tx1"/>
                          </a:solidFill>
                          <a:effectLst/>
                          <a:latin typeface="+mn-lt"/>
                          <a:ea typeface="+mn-ea"/>
                          <a:cs typeface="+mn-cs"/>
                        </a:rPr>
                        <a:t>; </a:t>
                      </a:r>
                      <a:r>
                        <a:rPr lang="en-US" sz="1800" b="0" i="0" u="none" strike="noStrike" kern="1200" dirty="0" err="1">
                          <a:solidFill>
                            <a:schemeClr val="tx1"/>
                          </a:solidFill>
                          <a:effectLst/>
                          <a:latin typeface="+mn-lt"/>
                          <a:ea typeface="+mn-ea"/>
                          <a:cs typeface="+mn-cs"/>
                          <a:hlinkClick r:id="rId6">
                            <a:extLst>
                              <a:ext uri="{A12FA001-AC4F-418D-AE19-62706E023703}">
                                <ahyp:hlinkClr xmlns="" xmlns:ahyp="http://schemas.microsoft.com/office/drawing/2018/hyperlinkcolor" val="tx"/>
                              </a:ext>
                            </a:extLst>
                          </a:hlinkClick>
                        </a:rPr>
                        <a:t>Risab</a:t>
                      </a:r>
                      <a:r>
                        <a:rPr lang="en-US" sz="1800" b="0" i="0" u="none" strike="noStrike" kern="1200" dirty="0">
                          <a:solidFill>
                            <a:schemeClr val="tx1"/>
                          </a:solidFill>
                          <a:effectLst/>
                          <a:latin typeface="+mn-lt"/>
                          <a:ea typeface="+mn-ea"/>
                          <a:cs typeface="+mn-cs"/>
                          <a:hlinkClick r:id="rId6">
                            <a:extLst>
                              <a:ext uri="{A12FA001-AC4F-418D-AE19-62706E023703}">
                                <ahyp:hlinkClr xmlns="" xmlns:ahyp="http://schemas.microsoft.com/office/drawing/2018/hyperlinkcolor" val="tx"/>
                              </a:ext>
                            </a:extLst>
                          </a:hlinkClick>
                        </a:rPr>
                        <a:t> Biswas</a:t>
                      </a:r>
                      <a:endParaRPr lang="en-US" sz="2000" b="0" dirty="0">
                        <a:solidFill>
                          <a:schemeClr val="tx1"/>
                        </a:solidFill>
                        <a:latin typeface="Times New Roman" pitchFamily="18" charset="0"/>
                        <a:cs typeface="Times New Roman" pitchFamily="18" charset="0"/>
                      </a:endParaRPr>
                    </a:p>
                  </a:txBody>
                  <a:tcPr marL="68580" marR="68580"/>
                </a:tc>
                <a:tc>
                  <a:txBody>
                    <a:bodyPr/>
                    <a:lstStyle/>
                    <a:p>
                      <a:r>
                        <a:rPr lang="en-US" sz="2000" b="0" dirty="0">
                          <a:solidFill>
                            <a:schemeClr val="tx1"/>
                          </a:solidFill>
                          <a:latin typeface="Times New Roman" pitchFamily="18" charset="0"/>
                          <a:cs typeface="Times New Roman" pitchFamily="18" charset="0"/>
                        </a:rPr>
                        <a:t>2018</a:t>
                      </a:r>
                    </a:p>
                  </a:txBody>
                  <a:tcPr marL="68580" marR="68580"/>
                </a:tc>
                <a:tc>
                  <a:txBody>
                    <a:bodyPr/>
                    <a:lstStyle/>
                    <a:p>
                      <a:r>
                        <a:rPr lang="en-US" sz="1800" b="0" i="0" kern="1200" dirty="0">
                          <a:solidFill>
                            <a:schemeClr val="dk1"/>
                          </a:solidFill>
                          <a:effectLst/>
                          <a:latin typeface="+mn-lt"/>
                          <a:ea typeface="+mn-ea"/>
                          <a:cs typeface="+mn-cs"/>
                        </a:rPr>
                        <a:t>Home automation is usually referred to the technique for controlling devices autonomously based on certain parameters. However, most of the system that exist is more of remote control rather than home automation. In this research paper, we're presenting a model for automating homes based on energy usage as the primary parameter. The autonomous control based on primary parameters are based on the application of machine learning using artificial neural network(s). The model is essentially a recommendation system and presents the user with alerts or recommendation. Remote control and monitoring act as the base of the system and two architecture(s) are presented to attain the same.</a:t>
                      </a:r>
                      <a:endParaRPr lang="en-US" sz="2000" dirty="0">
                        <a:latin typeface="Times New Roman" panose="02020603050405020304" pitchFamily="18" charset="0"/>
                        <a:cs typeface="Times New Roman" panose="02020603050405020304" pitchFamily="18" charset="0"/>
                      </a:endParaRPr>
                    </a:p>
                  </a:txBody>
                  <a:tcPr marL="68580" marR="6858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6947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364163"/>
          </a:xfrm>
        </p:spPr>
        <p:txBody>
          <a:bodyPr>
            <a:normAutofit lnSpcReduction="10000"/>
          </a:bodyPr>
          <a:lstStyle/>
          <a:p>
            <a:pPr marL="0" indent="0">
              <a:buNone/>
            </a:pPr>
            <a:r>
              <a:rPr lang="en-US" sz="2800" b="1" dirty="0">
                <a:latin typeface="Times New Roman" pitchFamily="18" charset="0"/>
                <a:cs typeface="Times New Roman" pitchFamily="18" charset="0"/>
              </a:rPr>
              <a:t>EXISTING SYSTEM:</a:t>
            </a:r>
          </a:p>
          <a:p>
            <a:r>
              <a:rPr lang="en-US" sz="2600" dirty="0">
                <a:latin typeface="Times New Roman" pitchFamily="18" charset="0"/>
                <a:cs typeface="Times New Roman" pitchFamily="18" charset="0"/>
              </a:rPr>
              <a:t>In previous system there is no technology for accident detection. As it is done manually, there is loss of life in golden hours.</a:t>
            </a:r>
          </a:p>
          <a:p>
            <a:r>
              <a:rPr lang="en-US" sz="2600" dirty="0">
                <a:latin typeface="Times New Roman" pitchFamily="18" charset="0"/>
                <a:cs typeface="Times New Roman" pitchFamily="18" charset="0"/>
              </a:rPr>
              <a:t>The accident victim is dependent on the mercy of others to rush him to hospital. Many times accident goes unnoticed for hours before help comes in.</a:t>
            </a:r>
          </a:p>
          <a:p>
            <a:r>
              <a:rPr lang="en-US" sz="2600" dirty="0">
                <a:latin typeface="Times New Roman" pitchFamily="18" charset="0"/>
                <a:cs typeface="Times New Roman" pitchFamily="18" charset="0"/>
              </a:rPr>
              <a:t>Due to all these factors there is high rate of mortality of accident victims.</a:t>
            </a:r>
          </a:p>
          <a:p>
            <a:r>
              <a:rPr lang="en-US" sz="2600" dirty="0">
                <a:latin typeface="Times New Roman" pitchFamily="18" charset="0"/>
                <a:cs typeface="Times New Roman" pitchFamily="18" charset="0"/>
              </a:rPr>
              <a:t> In addition to this there is a delay in the ambulance reaching the hospital due to the traffic congestion between accident location and hospital which increases the chances of death of victim. </a:t>
            </a:r>
          </a:p>
        </p:txBody>
      </p:sp>
    </p:spTree>
    <p:extLst>
      <p:ext uri="{BB962C8B-B14F-4D97-AF65-F5344CB8AC3E}">
        <p14:creationId xmlns:p14="http://schemas.microsoft.com/office/powerpoint/2010/main" val="349848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sz="2800" b="1" dirty="0">
                <a:latin typeface="Times New Roman" pitchFamily="18" charset="0"/>
                <a:cs typeface="Times New Roman" pitchFamily="18" charset="0"/>
              </a:rPr>
              <a:t>PROPOSED SYSTEM:</a:t>
            </a:r>
          </a:p>
          <a:p>
            <a:r>
              <a:rPr lang="en-US" sz="2400" dirty="0">
                <a:latin typeface="Times New Roman" pitchFamily="18" charset="0"/>
                <a:cs typeface="Times New Roman" pitchFamily="18" charset="0"/>
              </a:rPr>
              <a:t>In order to overcome the existing problem we implement a new system in which there is an automatic detection of accident.</a:t>
            </a:r>
          </a:p>
          <a:p>
            <a:r>
              <a:rPr lang="en-US" sz="2400" dirty="0">
                <a:latin typeface="Times New Roman" pitchFamily="18" charset="0"/>
                <a:cs typeface="Times New Roman" pitchFamily="18" charset="0"/>
              </a:rPr>
              <a:t>A GSM, GPS, Accelerometer unit fitted in the vehicle detects the accident and sends the accident location. </a:t>
            </a:r>
          </a:p>
          <a:p>
            <a:r>
              <a:rPr lang="en-US" sz="2400" dirty="0">
                <a:latin typeface="Times New Roman" pitchFamily="18" charset="0"/>
                <a:cs typeface="Times New Roman" pitchFamily="18" charset="0"/>
              </a:rPr>
              <a:t>The main server unit and ambulance is rushed into accident spot which carries the patient to hospital and along with this controlling the traffic lights signals.</a:t>
            </a:r>
          </a:p>
          <a:p>
            <a:r>
              <a:rPr lang="en-US" sz="2400" dirty="0">
                <a:latin typeface="Times New Roman" pitchFamily="18" charset="0"/>
                <a:cs typeface="Times New Roman" pitchFamily="18" charset="0"/>
              </a:rPr>
              <a:t> In the path of the ambulance to provide the clear path. This will minimize the time required to by the ambulance to reach the hospital. </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4294433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BLOCK DIAGRAM</a:t>
            </a:r>
            <a:endParaRPr lang="en-IN" dirty="0"/>
          </a:p>
        </p:txBody>
      </p:sp>
      <p:sp>
        <p:nvSpPr>
          <p:cNvPr id="3" name="Content Placeholder 2"/>
          <p:cNvSpPr>
            <a:spLocks noGrp="1"/>
          </p:cNvSpPr>
          <p:nvPr>
            <p:ph idx="1"/>
          </p:nvPr>
        </p:nvSpPr>
        <p:spPr>
          <a:xfrm>
            <a:off x="457200" y="1295400"/>
            <a:ext cx="8229600" cy="4830763"/>
          </a:xfrm>
        </p:spPr>
        <p:txBody>
          <a:bodyPr/>
          <a:lstStyle/>
          <a:p>
            <a:pPr marL="0" indent="0">
              <a:buNone/>
            </a:pPr>
            <a:endParaRPr lang="en-IN" dirty="0"/>
          </a:p>
        </p:txBody>
      </p:sp>
      <p:sp>
        <p:nvSpPr>
          <p:cNvPr id="4" name="Rectangle 3"/>
          <p:cNvSpPr/>
          <p:nvPr/>
        </p:nvSpPr>
        <p:spPr>
          <a:xfrm>
            <a:off x="2971800" y="1447800"/>
            <a:ext cx="2209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POWER SUPPLY</a:t>
            </a:r>
            <a:endParaRPr lang="en-IN" dirty="0"/>
          </a:p>
        </p:txBody>
      </p:sp>
      <p:sp>
        <p:nvSpPr>
          <p:cNvPr id="5" name="Rectangle 4"/>
          <p:cNvSpPr/>
          <p:nvPr/>
        </p:nvSpPr>
        <p:spPr>
          <a:xfrm>
            <a:off x="2971800" y="2438400"/>
            <a:ext cx="22098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ARDUINO UNO</a:t>
            </a:r>
            <a:endParaRPr lang="en-IN" dirty="0"/>
          </a:p>
        </p:txBody>
      </p:sp>
      <p:sp>
        <p:nvSpPr>
          <p:cNvPr id="6" name="Rectangle 5"/>
          <p:cNvSpPr/>
          <p:nvPr/>
        </p:nvSpPr>
        <p:spPr>
          <a:xfrm>
            <a:off x="762000" y="27432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MEMS SENSOR</a:t>
            </a:r>
            <a:endParaRPr lang="en-IN" dirty="0"/>
          </a:p>
        </p:txBody>
      </p:sp>
      <p:sp>
        <p:nvSpPr>
          <p:cNvPr id="7" name="Rectangle 6"/>
          <p:cNvSpPr/>
          <p:nvPr/>
        </p:nvSpPr>
        <p:spPr>
          <a:xfrm>
            <a:off x="763044" y="38100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GPS</a:t>
            </a:r>
            <a:endParaRPr lang="en-IN" dirty="0"/>
          </a:p>
        </p:txBody>
      </p:sp>
      <p:sp>
        <p:nvSpPr>
          <p:cNvPr id="8" name="Rectangle 7"/>
          <p:cNvSpPr/>
          <p:nvPr/>
        </p:nvSpPr>
        <p:spPr>
          <a:xfrm>
            <a:off x="5715000" y="27432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GSM</a:t>
            </a:r>
            <a:endParaRPr lang="en-IN" dirty="0"/>
          </a:p>
        </p:txBody>
      </p:sp>
      <p:sp>
        <p:nvSpPr>
          <p:cNvPr id="9" name="Rectangle 8"/>
          <p:cNvSpPr/>
          <p:nvPr/>
        </p:nvSpPr>
        <p:spPr>
          <a:xfrm>
            <a:off x="5715000" y="38100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ZIGBEE TX</a:t>
            </a:r>
            <a:endParaRPr lang="en-IN" dirty="0"/>
          </a:p>
        </p:txBody>
      </p:sp>
      <p:cxnSp>
        <p:nvCxnSpPr>
          <p:cNvPr id="11" name="Straight Arrow Connector 10"/>
          <p:cNvCxnSpPr>
            <a:stCxn id="4" idx="2"/>
          </p:cNvCxnSpPr>
          <p:nvPr/>
        </p:nvCxnSpPr>
        <p:spPr>
          <a:xfrm>
            <a:off x="4076700" y="20574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p:cNvCxnSpPr>
          <p:nvPr/>
        </p:nvCxnSpPr>
        <p:spPr>
          <a:xfrm>
            <a:off x="2438400" y="3048000"/>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439444" y="4133589"/>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181600" y="3048000"/>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181600" y="4133589"/>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758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BLOCK DIAGRAM</a:t>
            </a:r>
            <a:endParaRPr lang="en-IN" dirty="0"/>
          </a:p>
        </p:txBody>
      </p:sp>
      <p:sp>
        <p:nvSpPr>
          <p:cNvPr id="3" name="Content Placeholder 2"/>
          <p:cNvSpPr>
            <a:spLocks noGrp="1"/>
          </p:cNvSpPr>
          <p:nvPr>
            <p:ph idx="1"/>
          </p:nvPr>
        </p:nvSpPr>
        <p:spPr>
          <a:xfrm>
            <a:off x="457200" y="1295400"/>
            <a:ext cx="8229600" cy="4830763"/>
          </a:xfrm>
        </p:spPr>
        <p:txBody>
          <a:bodyPr/>
          <a:lstStyle/>
          <a:p>
            <a:pPr marL="0" indent="0">
              <a:buNone/>
            </a:pPr>
            <a:endParaRPr lang="en-IN" dirty="0"/>
          </a:p>
        </p:txBody>
      </p:sp>
      <p:sp>
        <p:nvSpPr>
          <p:cNvPr id="4" name="Rectangle 3"/>
          <p:cNvSpPr/>
          <p:nvPr/>
        </p:nvSpPr>
        <p:spPr>
          <a:xfrm>
            <a:off x="2971800" y="1447800"/>
            <a:ext cx="2209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POWER SUPPLY</a:t>
            </a:r>
            <a:endParaRPr lang="en-IN" dirty="0"/>
          </a:p>
        </p:txBody>
      </p:sp>
      <p:sp>
        <p:nvSpPr>
          <p:cNvPr id="5" name="Rectangle 4"/>
          <p:cNvSpPr/>
          <p:nvPr/>
        </p:nvSpPr>
        <p:spPr>
          <a:xfrm>
            <a:off x="2971800" y="2438400"/>
            <a:ext cx="22098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ARDUINO UNO</a:t>
            </a:r>
            <a:endParaRPr lang="en-IN" dirty="0"/>
          </a:p>
        </p:txBody>
      </p:sp>
      <p:sp>
        <p:nvSpPr>
          <p:cNvPr id="6" name="Rectangle 5"/>
          <p:cNvSpPr/>
          <p:nvPr/>
        </p:nvSpPr>
        <p:spPr>
          <a:xfrm>
            <a:off x="762000" y="27432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ZIGBEE RX</a:t>
            </a:r>
            <a:endParaRPr lang="en-IN" dirty="0"/>
          </a:p>
        </p:txBody>
      </p:sp>
      <p:sp>
        <p:nvSpPr>
          <p:cNvPr id="8" name="Rectangle 7"/>
          <p:cNvSpPr/>
          <p:nvPr/>
        </p:nvSpPr>
        <p:spPr>
          <a:xfrm>
            <a:off x="5715000" y="27432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LCD DISPLAY</a:t>
            </a:r>
            <a:endParaRPr lang="en-IN" dirty="0"/>
          </a:p>
        </p:txBody>
      </p:sp>
      <p:sp>
        <p:nvSpPr>
          <p:cNvPr id="9" name="Rectangle 8"/>
          <p:cNvSpPr/>
          <p:nvPr/>
        </p:nvSpPr>
        <p:spPr>
          <a:xfrm>
            <a:off x="5715000" y="38100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LED ARRAY</a:t>
            </a:r>
            <a:endParaRPr lang="en-IN" dirty="0"/>
          </a:p>
        </p:txBody>
      </p:sp>
      <p:cxnSp>
        <p:nvCxnSpPr>
          <p:cNvPr id="11" name="Straight Arrow Connector 10"/>
          <p:cNvCxnSpPr>
            <a:stCxn id="4" idx="2"/>
          </p:cNvCxnSpPr>
          <p:nvPr/>
        </p:nvCxnSpPr>
        <p:spPr>
          <a:xfrm>
            <a:off x="4076700" y="20574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3"/>
          </p:cNvCxnSpPr>
          <p:nvPr/>
        </p:nvCxnSpPr>
        <p:spPr>
          <a:xfrm>
            <a:off x="2438400" y="3048000"/>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181600" y="3048000"/>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181600" y="4133589"/>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715000" y="4870537"/>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MOTOR DRIVER</a:t>
            </a:r>
            <a:endParaRPr lang="en-IN" dirty="0"/>
          </a:p>
        </p:txBody>
      </p:sp>
      <p:cxnSp>
        <p:nvCxnSpPr>
          <p:cNvPr id="18" name="Straight Arrow Connector 17"/>
          <p:cNvCxnSpPr/>
          <p:nvPr/>
        </p:nvCxnSpPr>
        <p:spPr>
          <a:xfrm>
            <a:off x="5181600" y="5175337"/>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7696200" y="4505195"/>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MOTOR 1</a:t>
            </a:r>
            <a:endParaRPr lang="en-IN" dirty="0"/>
          </a:p>
        </p:txBody>
      </p:sp>
      <p:sp>
        <p:nvSpPr>
          <p:cNvPr id="20" name="Rectangle 19"/>
          <p:cNvSpPr/>
          <p:nvPr/>
        </p:nvSpPr>
        <p:spPr>
          <a:xfrm>
            <a:off x="7696200" y="5267195"/>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MOTOR 2</a:t>
            </a:r>
            <a:endParaRPr lang="en-IN" dirty="0"/>
          </a:p>
        </p:txBody>
      </p:sp>
      <p:cxnSp>
        <p:nvCxnSpPr>
          <p:cNvPr id="21" name="Straight Arrow Connector 20"/>
          <p:cNvCxnSpPr/>
          <p:nvPr/>
        </p:nvCxnSpPr>
        <p:spPr>
          <a:xfrm>
            <a:off x="7391400" y="4953000"/>
            <a:ext cx="2667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7421671" y="5437340"/>
            <a:ext cx="2667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215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b="1" dirty="0">
                <a:latin typeface="Times New Roman" pitchFamily="18" charset="0"/>
                <a:cs typeface="Times New Roman" pitchFamily="18" charset="0"/>
              </a:rPr>
              <a:t>HARDWARE REQUIREMENTS:</a:t>
            </a:r>
          </a:p>
          <a:p>
            <a:r>
              <a:rPr lang="en-US" sz="2400" dirty="0" err="1">
                <a:latin typeface="Times New Roman" pitchFamily="18" charset="0"/>
                <a:cs typeface="Times New Roman" pitchFamily="18" charset="0"/>
              </a:rPr>
              <a:t>Arduino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uno</a:t>
            </a:r>
            <a:endParaRPr lang="en-US" sz="2400" dirty="0">
              <a:latin typeface="Times New Roman" pitchFamily="18" charset="0"/>
              <a:cs typeface="Times New Roman" pitchFamily="18" charset="0"/>
            </a:endParaRPr>
          </a:p>
          <a:p>
            <a:r>
              <a:rPr lang="en-US" sz="2400" dirty="0" err="1">
                <a:latin typeface="Times New Roman" pitchFamily="18" charset="0"/>
                <a:cs typeface="Times New Roman" pitchFamily="18" charset="0"/>
              </a:rPr>
              <a:t>Mems</a:t>
            </a:r>
            <a:r>
              <a:rPr lang="en-US" sz="2400" dirty="0">
                <a:latin typeface="Times New Roman" pitchFamily="18" charset="0"/>
                <a:cs typeface="Times New Roman" pitchFamily="18" charset="0"/>
              </a:rPr>
              <a:t> sensor</a:t>
            </a:r>
          </a:p>
          <a:p>
            <a:r>
              <a:rPr lang="en-US" sz="2400" dirty="0">
                <a:latin typeface="Times New Roman" pitchFamily="18" charset="0"/>
                <a:cs typeface="Times New Roman" pitchFamily="18" charset="0"/>
              </a:rPr>
              <a:t>Vibration sensor</a:t>
            </a:r>
          </a:p>
          <a:p>
            <a:r>
              <a:rPr lang="en-US" sz="2400" dirty="0">
                <a:latin typeface="Times New Roman" pitchFamily="18" charset="0"/>
                <a:cs typeface="Times New Roman" pitchFamily="18" charset="0"/>
              </a:rPr>
              <a:t>GPS</a:t>
            </a:r>
          </a:p>
          <a:p>
            <a:r>
              <a:rPr lang="en-US" sz="2400" dirty="0">
                <a:latin typeface="Times New Roman" pitchFamily="18" charset="0"/>
                <a:cs typeface="Times New Roman" pitchFamily="18" charset="0"/>
              </a:rPr>
              <a:t>Buzzer</a:t>
            </a:r>
          </a:p>
          <a:p>
            <a:pPr marL="0" indent="0">
              <a:buNone/>
            </a:pPr>
            <a:r>
              <a:rPr lang="en-US" b="1" dirty="0">
                <a:latin typeface="Times New Roman" pitchFamily="18" charset="0"/>
                <a:cs typeface="Times New Roman" pitchFamily="18" charset="0"/>
              </a:rPr>
              <a:t>SOFTWARE REQUIREMENTS:</a:t>
            </a:r>
          </a:p>
          <a:p>
            <a:r>
              <a:rPr lang="en-US" sz="2400" dirty="0" err="1">
                <a:latin typeface="Times New Roman" pitchFamily="18" charset="0"/>
                <a:cs typeface="Times New Roman" pitchFamily="18" charset="0"/>
              </a:rPr>
              <a:t>Arduino</a:t>
            </a:r>
            <a:r>
              <a:rPr lang="en-US" sz="2400" dirty="0">
                <a:latin typeface="Times New Roman" pitchFamily="18" charset="0"/>
                <a:cs typeface="Times New Roman" pitchFamily="18" charset="0"/>
              </a:rPr>
              <a:t> IDE</a:t>
            </a:r>
          </a:p>
          <a:p>
            <a:r>
              <a:rPr lang="en-US" sz="2400" dirty="0">
                <a:latin typeface="Times New Roman" pitchFamily="18" charset="0"/>
                <a:cs typeface="Times New Roman" pitchFamily="18" charset="0"/>
              </a:rPr>
              <a:t>Embedded C</a:t>
            </a:r>
          </a:p>
        </p:txBody>
      </p:sp>
    </p:spTree>
    <p:extLst>
      <p:ext uri="{BB962C8B-B14F-4D97-AF65-F5344CB8AC3E}">
        <p14:creationId xmlns:p14="http://schemas.microsoft.com/office/powerpoint/2010/main" val="71342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42F7-EA1F-44CE-A428-5DA77545363D}"/>
              </a:ext>
            </a:extLst>
          </p:cNvPr>
          <p:cNvSpPr>
            <a:spLocks noGrp="1"/>
          </p:cNvSpPr>
          <p:nvPr>
            <p:ph type="title"/>
          </p:nvPr>
        </p:nvSpPr>
        <p:spPr/>
        <p:txBody>
          <a:bodyPr/>
          <a:lstStyle/>
          <a:p>
            <a:r>
              <a:rPr lang="en-US" dirty="0"/>
              <a:t>ARDUINO UNO </a:t>
            </a:r>
          </a:p>
        </p:txBody>
      </p:sp>
      <p:sp>
        <p:nvSpPr>
          <p:cNvPr id="3" name="Content Placeholder 2">
            <a:extLst>
              <a:ext uri="{FF2B5EF4-FFF2-40B4-BE49-F238E27FC236}">
                <a16:creationId xmlns:a16="http://schemas.microsoft.com/office/drawing/2014/main" id="{1965C340-BFC2-4D8C-B6F2-E6F3283D2414}"/>
              </a:ext>
            </a:extLst>
          </p:cNvPr>
          <p:cNvSpPr>
            <a:spLocks noGrp="1"/>
          </p:cNvSpPr>
          <p:nvPr>
            <p:ph idx="1"/>
          </p:nvPr>
        </p:nvSpPr>
        <p:spPr>
          <a:xfrm>
            <a:off x="381000" y="1143000"/>
            <a:ext cx="8229600" cy="5340929"/>
          </a:xfrm>
        </p:spPr>
        <p:txBody>
          <a:bodyPr>
            <a:noAutofit/>
          </a:bodyPr>
          <a:lstStyle/>
          <a:p>
            <a:pPr algn="just">
              <a:lnSpc>
                <a:spcPct val="170000"/>
              </a:lnSpc>
              <a:buFont typeface="Wingdings" panose="05000000000000000000" pitchFamily="2" charset="2"/>
              <a:buChar char="Ø"/>
            </a:pPr>
            <a:r>
              <a:rPr lang="en-US" sz="1800" dirty="0">
                <a:cs typeface="Times New Roman" panose="02020603050405020304" pitchFamily="18" charset="0"/>
              </a:rPr>
              <a:t>The Arduino Uno is a microcontroller board grounded on the ATmega328 (datasheet). It comprises of 14 digital input/output pins (out of which 6 can be utilized as PWM outputs), 6 analog inputs, a 16 MHz ceramic resonator, a facilitation for USB connectivity, a power jack, an ICSP header, and a reset button. Its designs comprises of assistances that supports the microcontroller in every possible way.</a:t>
            </a:r>
          </a:p>
          <a:p>
            <a:pPr algn="just">
              <a:lnSpc>
                <a:spcPct val="170000"/>
              </a:lnSpc>
              <a:buFont typeface="Wingdings" panose="05000000000000000000" pitchFamily="2" charset="2"/>
              <a:buChar char="Ø"/>
            </a:pPr>
            <a:r>
              <a:rPr lang="en-US" sz="1800" dirty="0">
                <a:cs typeface="Times New Roman" panose="02020603050405020304" pitchFamily="18" charset="0"/>
              </a:rPr>
              <a:t> In order to get to work with it one has to simply connect it to a computer with a USB cable or power it with an AC-to-DC adapter or battery. It is accessible in two different versions namely Arduino Uno and Genuino Uno which could be The variations is observed with reference to the region.</a:t>
            </a:r>
            <a:endParaRPr lang="en-US" sz="1800" dirty="0"/>
          </a:p>
        </p:txBody>
      </p:sp>
    </p:spTree>
    <p:extLst>
      <p:ext uri="{BB962C8B-B14F-4D97-AF65-F5344CB8AC3E}">
        <p14:creationId xmlns:p14="http://schemas.microsoft.com/office/powerpoint/2010/main" val="248963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53CC9-714C-476E-9658-D05353B673BF}"/>
              </a:ext>
            </a:extLst>
          </p:cNvPr>
          <p:cNvSpPr>
            <a:spLocks noGrp="1"/>
          </p:cNvSpPr>
          <p:nvPr>
            <p:ph type="title"/>
          </p:nvPr>
        </p:nvSpPr>
        <p:spPr/>
        <p:txBody>
          <a:bodyPr>
            <a:normAutofit fontScale="90000"/>
          </a:bodyPr>
          <a:lstStyle/>
          <a:p>
            <a:r>
              <a:rPr lang="en-US" b="1" dirty="0">
                <a:latin typeface="+mn-lt"/>
                <a:cs typeface="Times New Roman" panose="02020603050405020304" pitchFamily="18" charset="0"/>
              </a:rPr>
              <a:t>SPECIFICATION</a:t>
            </a:r>
            <a:r>
              <a:rPr lang="en-US" dirty="0">
                <a:latin typeface="+mn-lt"/>
              </a:rPr>
              <a:t/>
            </a:r>
            <a:br>
              <a:rPr lang="en-US" dirty="0">
                <a:latin typeface="+mn-lt"/>
              </a:rPr>
            </a:br>
            <a:endParaRPr lang="en-US" dirty="0">
              <a:latin typeface="+mn-lt"/>
            </a:endParaRPr>
          </a:p>
        </p:txBody>
      </p:sp>
      <p:sp>
        <p:nvSpPr>
          <p:cNvPr id="3" name="Content Placeholder 2">
            <a:extLst>
              <a:ext uri="{FF2B5EF4-FFF2-40B4-BE49-F238E27FC236}">
                <a16:creationId xmlns:a16="http://schemas.microsoft.com/office/drawing/2014/main" id="{11A4CCA5-D57E-4F2B-938A-97920EDC1D99}"/>
              </a:ext>
            </a:extLst>
          </p:cNvPr>
          <p:cNvSpPr>
            <a:spLocks noGrp="1"/>
          </p:cNvSpPr>
          <p:nvPr>
            <p:ph idx="1"/>
          </p:nvPr>
        </p:nvSpPr>
        <p:spPr/>
        <p:txBody>
          <a:bodyPr>
            <a:normAutofit/>
          </a:bodyPr>
          <a:lstStyle/>
          <a:p>
            <a:pPr>
              <a:buFont typeface="Wingdings" panose="05000000000000000000" pitchFamily="2" charset="2"/>
              <a:buChar char="Ø"/>
            </a:pPr>
            <a:r>
              <a:rPr lang="en-US" sz="1800" dirty="0">
                <a:cs typeface="Times New Roman" panose="02020603050405020304" pitchFamily="18" charset="0"/>
              </a:rPr>
              <a:t>ATmega328-AU microcontroller with UNO Bootloader Installed.</a:t>
            </a:r>
          </a:p>
          <a:p>
            <a:pPr>
              <a:buFont typeface="Wingdings" panose="05000000000000000000" pitchFamily="2" charset="2"/>
              <a:buChar char="Ø"/>
            </a:pPr>
            <a:r>
              <a:rPr lang="en-US" sz="1800" dirty="0">
                <a:cs typeface="Times New Roman" panose="02020603050405020304" pitchFamily="18" charset="0"/>
              </a:rPr>
              <a:t>USB Programming Facilitated by the CH340G.</a:t>
            </a:r>
          </a:p>
          <a:p>
            <a:pPr>
              <a:buFont typeface="Wingdings" panose="05000000000000000000" pitchFamily="2" charset="2"/>
              <a:buChar char="Ø"/>
            </a:pPr>
            <a:r>
              <a:rPr lang="en-US" sz="1800" dirty="0">
                <a:cs typeface="Times New Roman" panose="02020603050405020304" pitchFamily="18" charset="0"/>
              </a:rPr>
              <a:t>USB-B Connector and cable included.</a:t>
            </a:r>
          </a:p>
          <a:p>
            <a:pPr>
              <a:buFont typeface="Wingdings" panose="05000000000000000000" pitchFamily="2" charset="2"/>
              <a:buChar char="Ø"/>
            </a:pPr>
            <a:r>
              <a:rPr lang="en-US" sz="1800" dirty="0">
                <a:cs typeface="Times New Roman" panose="02020603050405020304" pitchFamily="18" charset="0"/>
              </a:rPr>
              <a:t>Input voltage - 7-15V.</a:t>
            </a:r>
          </a:p>
          <a:p>
            <a:pPr>
              <a:buFont typeface="Wingdings" panose="05000000000000000000" pitchFamily="2" charset="2"/>
              <a:buChar char="Ø"/>
            </a:pPr>
            <a:r>
              <a:rPr lang="en-US" sz="1800" dirty="0">
                <a:cs typeface="Times New Roman" panose="02020603050405020304" pitchFamily="18" charset="0"/>
              </a:rPr>
              <a:t>0-5V outputs with 3.3V compatible inputs.</a:t>
            </a:r>
          </a:p>
          <a:p>
            <a:pPr>
              <a:buFont typeface="Wingdings" panose="05000000000000000000" pitchFamily="2" charset="2"/>
              <a:buChar char="Ø"/>
            </a:pPr>
            <a:r>
              <a:rPr lang="en-US" sz="1800" dirty="0">
                <a:cs typeface="Times New Roman" panose="02020603050405020304" pitchFamily="18" charset="0"/>
              </a:rPr>
              <a:t>14 Digital I/O Pins (6 PWM outputs).</a:t>
            </a:r>
          </a:p>
          <a:p>
            <a:pPr>
              <a:buFont typeface="Wingdings" panose="05000000000000000000" pitchFamily="2" charset="2"/>
              <a:buChar char="Ø"/>
            </a:pPr>
            <a:r>
              <a:rPr lang="en-US" sz="1800" dirty="0">
                <a:cs typeface="Times New Roman" panose="02020603050405020304" pitchFamily="18" charset="0"/>
              </a:rPr>
              <a:t>6 Analog Inputs.</a:t>
            </a:r>
          </a:p>
          <a:p>
            <a:pPr>
              <a:buFont typeface="Wingdings" panose="05000000000000000000" pitchFamily="2" charset="2"/>
              <a:buChar char="Ø"/>
            </a:pPr>
            <a:r>
              <a:rPr lang="en-US" sz="1800" dirty="0">
                <a:cs typeface="Times New Roman" panose="02020603050405020304" pitchFamily="18" charset="0"/>
              </a:rPr>
              <a:t>ISP Header.</a:t>
            </a:r>
          </a:p>
          <a:p>
            <a:pPr>
              <a:buFont typeface="Wingdings" panose="05000000000000000000" pitchFamily="2" charset="2"/>
              <a:buChar char="Ø"/>
            </a:pPr>
            <a:r>
              <a:rPr lang="en-US" sz="1800" dirty="0">
                <a:cs typeface="Times New Roman" panose="02020603050405020304" pitchFamily="18" charset="0"/>
              </a:rPr>
              <a:t>32k Flash Memory</a:t>
            </a:r>
          </a:p>
          <a:p>
            <a:pPr>
              <a:buFont typeface="Wingdings" panose="05000000000000000000" pitchFamily="2" charset="2"/>
              <a:buChar char="Ø"/>
            </a:pPr>
            <a:r>
              <a:rPr lang="en-US" sz="1800" dirty="0">
                <a:cs typeface="Times New Roman" panose="02020603050405020304" pitchFamily="18" charset="0"/>
              </a:rPr>
              <a:t>16MHz Clock Speed.</a:t>
            </a:r>
          </a:p>
          <a:p>
            <a:endParaRPr lang="en-US" dirty="0"/>
          </a:p>
        </p:txBody>
      </p:sp>
      <p:pic>
        <p:nvPicPr>
          <p:cNvPr id="4" name="Content Placeholder 3">
            <a:extLst>
              <a:ext uri="{FF2B5EF4-FFF2-40B4-BE49-F238E27FC236}">
                <a16:creationId xmlns:a16="http://schemas.microsoft.com/office/drawing/2014/main" id="{6DA796BE-1B92-4CFF-B19B-23E08E8CBCA5}"/>
              </a:ext>
            </a:extLst>
          </p:cNvPr>
          <p:cNvPicPr>
            <a:picLocks noChangeAspect="1"/>
          </p:cNvPicPr>
          <p:nvPr/>
        </p:nvPicPr>
        <p:blipFill>
          <a:blip r:embed="rId2"/>
          <a:stretch>
            <a:fillRect/>
          </a:stretch>
        </p:blipFill>
        <p:spPr>
          <a:xfrm>
            <a:off x="6016337" y="3063396"/>
            <a:ext cx="2608118" cy="2956405"/>
          </a:xfrm>
          <a:prstGeom prst="rect">
            <a:avLst/>
          </a:prstGeom>
        </p:spPr>
      </p:pic>
    </p:spTree>
    <p:extLst>
      <p:ext uri="{BB962C8B-B14F-4D97-AF65-F5344CB8AC3E}">
        <p14:creationId xmlns:p14="http://schemas.microsoft.com/office/powerpoint/2010/main" val="417273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76C5-ECAC-42B4-BA52-8644D96505EA}"/>
              </a:ext>
            </a:extLst>
          </p:cNvPr>
          <p:cNvSpPr>
            <a:spLocks noGrp="1"/>
          </p:cNvSpPr>
          <p:nvPr>
            <p:ph type="title"/>
          </p:nvPr>
        </p:nvSpPr>
        <p:spPr/>
        <p:txBody>
          <a:bodyPr/>
          <a:lstStyle/>
          <a:p>
            <a:r>
              <a:rPr lang="en-US" dirty="0"/>
              <a:t>GSM SIM900</a:t>
            </a:r>
          </a:p>
        </p:txBody>
      </p:sp>
      <p:sp>
        <p:nvSpPr>
          <p:cNvPr id="3" name="Content Placeholder 2">
            <a:extLst>
              <a:ext uri="{FF2B5EF4-FFF2-40B4-BE49-F238E27FC236}">
                <a16:creationId xmlns:a16="http://schemas.microsoft.com/office/drawing/2014/main" id="{F5377DF6-41AF-4F1B-825F-D418B3E1CBCE}"/>
              </a:ext>
            </a:extLst>
          </p:cNvPr>
          <p:cNvSpPr>
            <a:spLocks noGrp="1"/>
          </p:cNvSpPr>
          <p:nvPr>
            <p:ph idx="1"/>
          </p:nvPr>
        </p:nvSpPr>
        <p:spPr/>
        <p:txBody>
          <a:bodyPr>
            <a:normAutofit fontScale="62500" lnSpcReduction="20000"/>
          </a:bodyPr>
          <a:lstStyle/>
          <a:p>
            <a:pPr algn="just">
              <a:buFont typeface="Wingdings" panose="05000000000000000000" pitchFamily="2" charset="2"/>
              <a:buChar char="Ø"/>
            </a:pPr>
            <a:r>
              <a:rPr lang="en-US" dirty="0"/>
              <a:t> The GSM shield by Arduino is used to send/ receive messages and make/receive calls just like a mobile phone by using a SIM card by a network provider. </a:t>
            </a:r>
          </a:p>
          <a:p>
            <a:pPr algn="just">
              <a:buFont typeface="Wingdings" panose="05000000000000000000" pitchFamily="2" charset="2"/>
              <a:buChar char="Ø"/>
            </a:pPr>
            <a:r>
              <a:rPr lang="en-US" dirty="0"/>
              <a:t>We can do this by plugging the GSM shield into the Arduino board and then plugging in a SIM card from an operator that offers GPRS coverage. </a:t>
            </a:r>
          </a:p>
          <a:p>
            <a:pPr algn="just">
              <a:buFont typeface="Wingdings" panose="05000000000000000000" pitchFamily="2" charset="2"/>
              <a:buChar char="Ø"/>
            </a:pPr>
            <a:r>
              <a:rPr lang="en-US" dirty="0"/>
              <a:t>The shield employs the use of a radio modem by SIMComm. </a:t>
            </a:r>
          </a:p>
          <a:p>
            <a:pPr algn="just">
              <a:buFont typeface="Wingdings" panose="05000000000000000000" pitchFamily="2" charset="2"/>
              <a:buChar char="Ø"/>
            </a:pPr>
            <a:r>
              <a:rPr lang="en-US" dirty="0"/>
              <a:t>We can communicate easily with the shield using the </a:t>
            </a:r>
            <a:r>
              <a:rPr lang="en-US" b="1" dirty="0"/>
              <a:t>AT </a:t>
            </a:r>
            <a:r>
              <a:rPr lang="en-US" dirty="0"/>
              <a:t>commands. The </a:t>
            </a:r>
            <a:r>
              <a:rPr lang="en-US" b="1" dirty="0"/>
              <a:t>GSM library </a:t>
            </a:r>
            <a:r>
              <a:rPr lang="en-US" dirty="0"/>
              <a:t>contains many methods of communication with the shield.</a:t>
            </a:r>
          </a:p>
          <a:p>
            <a:pPr algn="just">
              <a:buFont typeface="Wingdings" panose="05000000000000000000" pitchFamily="2" charset="2"/>
              <a:buChar char="Ø"/>
            </a:pPr>
            <a:r>
              <a:rPr lang="en-US" dirty="0"/>
              <a:t> This GSM Modem can work with any GSM network operator SIM card just like a mobile phone with its own unique phone number. </a:t>
            </a:r>
          </a:p>
          <a:p>
            <a:pPr algn="just">
              <a:buFont typeface="Wingdings" panose="05000000000000000000" pitchFamily="2" charset="2"/>
              <a:buChar char="Ø"/>
            </a:pPr>
            <a:r>
              <a:rPr lang="en-US" dirty="0"/>
              <a:t>Advantage of using this modem will be that its RS232 port can be used to communicate and develop embedded applications. </a:t>
            </a:r>
          </a:p>
          <a:p>
            <a:pPr algn="just">
              <a:buFont typeface="Wingdings" panose="05000000000000000000" pitchFamily="2" charset="2"/>
              <a:buChar char="Ø"/>
            </a:pPr>
            <a:r>
              <a:rPr lang="en-US" dirty="0"/>
              <a:t>Applications like SMS Control, data transfer, remote control and logging can be developed easily using this.</a:t>
            </a:r>
          </a:p>
          <a:p>
            <a:pPr algn="just">
              <a:buFont typeface="Wingdings" panose="05000000000000000000" pitchFamily="2" charset="2"/>
              <a:buChar char="Ø"/>
            </a:pPr>
            <a:endParaRPr lang="en-US" dirty="0"/>
          </a:p>
          <a:p>
            <a:pPr algn="just"/>
            <a:endParaRPr lang="en-US" dirty="0"/>
          </a:p>
        </p:txBody>
      </p:sp>
    </p:spTree>
    <p:extLst>
      <p:ext uri="{BB962C8B-B14F-4D97-AF65-F5344CB8AC3E}">
        <p14:creationId xmlns:p14="http://schemas.microsoft.com/office/powerpoint/2010/main" val="1256275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35B0-5952-4BAA-8D77-2FFA4B5A2FE8}"/>
              </a:ext>
            </a:extLst>
          </p:cNvPr>
          <p:cNvSpPr>
            <a:spLocks noGrp="1"/>
          </p:cNvSpPr>
          <p:nvPr>
            <p:ph type="title"/>
          </p:nvPr>
        </p:nvSpPr>
        <p:spPr/>
        <p:txBody>
          <a:bodyPr>
            <a:normAutofit fontScale="90000"/>
          </a:bodyPr>
          <a:lstStyle/>
          <a:p>
            <a:r>
              <a:rPr lang="en-US" dirty="0"/>
              <a:t>FEATURES</a:t>
            </a:r>
            <a:br>
              <a:rPr lang="en-US" dirty="0"/>
            </a:br>
            <a:endParaRPr lang="en-US" dirty="0"/>
          </a:p>
        </p:txBody>
      </p:sp>
      <p:sp>
        <p:nvSpPr>
          <p:cNvPr id="3" name="Content Placeholder 2">
            <a:extLst>
              <a:ext uri="{FF2B5EF4-FFF2-40B4-BE49-F238E27FC236}">
                <a16:creationId xmlns:a16="http://schemas.microsoft.com/office/drawing/2014/main" id="{FDA9E08C-3524-4137-B917-64AEE72C03E4}"/>
              </a:ext>
            </a:extLst>
          </p:cNvPr>
          <p:cNvSpPr>
            <a:spLocks noGrp="1"/>
          </p:cNvSpPr>
          <p:nvPr>
            <p:ph idx="1"/>
          </p:nvPr>
        </p:nvSpPr>
        <p:spPr/>
        <p:txBody>
          <a:bodyPr>
            <a:normAutofit/>
          </a:bodyPr>
          <a:lstStyle/>
          <a:p>
            <a:pPr>
              <a:buFont typeface="Wingdings" panose="05000000000000000000" pitchFamily="2" charset="2"/>
              <a:buChar char="Ø"/>
            </a:pPr>
            <a:r>
              <a:rPr lang="en-US" sz="1900" dirty="0"/>
              <a:t>Dual-Band 900/ 1800 MHz</a:t>
            </a:r>
          </a:p>
          <a:p>
            <a:pPr>
              <a:buFont typeface="Wingdings" panose="05000000000000000000" pitchFamily="2" charset="2"/>
              <a:buChar char="Ø"/>
            </a:pPr>
            <a:r>
              <a:rPr lang="en-US" sz="1900" dirty="0"/>
              <a:t>GPRS multi-slot class 10/8</a:t>
            </a:r>
          </a:p>
          <a:p>
            <a:pPr>
              <a:buFont typeface="Wingdings" panose="05000000000000000000" pitchFamily="2" charset="2"/>
              <a:buChar char="Ø"/>
            </a:pPr>
            <a:r>
              <a:rPr lang="en-US" sz="1900" dirty="0"/>
              <a:t>GPRS mobile station class B</a:t>
            </a:r>
          </a:p>
          <a:p>
            <a:pPr>
              <a:buFont typeface="Wingdings" panose="05000000000000000000" pitchFamily="2" charset="2"/>
              <a:buChar char="Ø"/>
            </a:pPr>
            <a:r>
              <a:rPr lang="en-US" sz="1900" dirty="0"/>
              <a:t>Compliant to GSM phase 2/2+</a:t>
            </a:r>
          </a:p>
          <a:p>
            <a:pPr>
              <a:buFont typeface="Wingdings" panose="05000000000000000000" pitchFamily="2" charset="2"/>
              <a:buChar char="Ø"/>
            </a:pPr>
            <a:r>
              <a:rPr lang="en-US" sz="1900" dirty="0"/>
              <a:t>Class 4 (2 W @900 MHz)</a:t>
            </a:r>
          </a:p>
          <a:p>
            <a:pPr>
              <a:buFont typeface="Wingdings" panose="05000000000000000000" pitchFamily="2" charset="2"/>
              <a:buChar char="Ø"/>
            </a:pPr>
            <a:r>
              <a:rPr lang="en-US" sz="1900" dirty="0"/>
              <a:t>Class 1 (1 W @ 1800MHz)</a:t>
            </a:r>
          </a:p>
          <a:p>
            <a:pPr>
              <a:buFont typeface="Wingdings" panose="05000000000000000000" pitchFamily="2" charset="2"/>
              <a:buChar char="Ø"/>
            </a:pPr>
            <a:r>
              <a:rPr lang="en-US" sz="1900" dirty="0"/>
              <a:t>Dimensions: 24*24*3 mm</a:t>
            </a:r>
          </a:p>
          <a:p>
            <a:pPr>
              <a:buFont typeface="Wingdings" panose="05000000000000000000" pitchFamily="2" charset="2"/>
              <a:buChar char="Ø"/>
            </a:pPr>
            <a:r>
              <a:rPr lang="en-US" sz="1900" dirty="0"/>
              <a:t>Supply voltage range: 3.1- 4.8V</a:t>
            </a:r>
          </a:p>
          <a:p>
            <a:pPr>
              <a:buFont typeface="Wingdings" panose="05000000000000000000" pitchFamily="2" charset="2"/>
              <a:buChar char="Ø"/>
            </a:pPr>
            <a:r>
              <a:rPr lang="en-US" sz="1900" dirty="0"/>
              <a:t>Low power consumption: 1.5mA(sleep mode)</a:t>
            </a:r>
          </a:p>
          <a:p>
            <a:pPr>
              <a:buFont typeface="Wingdings" panose="05000000000000000000" pitchFamily="2" charset="2"/>
              <a:buChar char="Ø"/>
            </a:pPr>
            <a:r>
              <a:rPr lang="en-US" sz="1900" dirty="0"/>
              <a:t>Operation temperature: -40° C to +85°C</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676400"/>
            <a:ext cx="2362200" cy="330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578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5B08-18F1-4C56-9579-EF7AEAD647E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SOFTWARE REQUIEMENTS</a:t>
            </a:r>
          </a:p>
        </p:txBody>
      </p:sp>
      <p:sp>
        <p:nvSpPr>
          <p:cNvPr id="3" name="Content Placeholder 2">
            <a:extLst>
              <a:ext uri="{FF2B5EF4-FFF2-40B4-BE49-F238E27FC236}">
                <a16:creationId xmlns:a16="http://schemas.microsoft.com/office/drawing/2014/main" id="{B44883F4-AC13-497E-87E2-714E4751F87D}"/>
              </a:ext>
            </a:extLst>
          </p:cNvPr>
          <p:cNvSpPr>
            <a:spLocks noGrp="1"/>
          </p:cNvSpPr>
          <p:nvPr>
            <p:ph idx="1"/>
          </p:nvPr>
        </p:nvSpPr>
        <p:spPr/>
        <p:txBody>
          <a:bodyPr>
            <a:normAutofit/>
          </a:bodyPr>
          <a:lstStyle/>
          <a:p>
            <a:pPr>
              <a:buFont typeface="Wingdings" panose="05000000000000000000" pitchFamily="2" charset="2"/>
              <a:buChar char="Ø"/>
            </a:pPr>
            <a:r>
              <a:rPr lang="en-IN" sz="1800" dirty="0"/>
              <a:t>EMBEDDED C</a:t>
            </a:r>
          </a:p>
          <a:p>
            <a:pPr>
              <a:buFont typeface="Wingdings" panose="05000000000000000000" pitchFamily="2" charset="2"/>
              <a:buChar char="Ø"/>
            </a:pPr>
            <a:r>
              <a:rPr lang="en-IN" sz="1800" dirty="0"/>
              <a:t>ARDUINO IDE</a:t>
            </a:r>
          </a:p>
        </p:txBody>
      </p:sp>
    </p:spTree>
    <p:extLst>
      <p:ext uri="{BB962C8B-B14F-4D97-AF65-F5344CB8AC3E}">
        <p14:creationId xmlns:p14="http://schemas.microsoft.com/office/powerpoint/2010/main" val="2789984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A38DC-9245-4CE2-8925-54C2A88020F6}"/>
              </a:ext>
            </a:extLst>
          </p:cNvPr>
          <p:cNvSpPr>
            <a:spLocks noGrp="1"/>
          </p:cNvSpPr>
          <p:nvPr>
            <p:ph type="title"/>
          </p:nvPr>
        </p:nvSpPr>
        <p:spPr/>
        <p:txBody>
          <a:bodyPr>
            <a:normAutofit/>
          </a:bodyPr>
          <a:lstStyle/>
          <a:p>
            <a:r>
              <a:rPr lang="en-US" sz="3600" dirty="0">
                <a:cs typeface="Times New Roman" panose="02020603050405020304" pitchFamily="18" charset="0"/>
              </a:rPr>
              <a:t>ARDUINO IDE </a:t>
            </a:r>
            <a:endParaRPr lang="en-US" sz="3600" dirty="0"/>
          </a:p>
        </p:txBody>
      </p:sp>
      <p:sp>
        <p:nvSpPr>
          <p:cNvPr id="3" name="Content Placeholder 2">
            <a:extLst>
              <a:ext uri="{FF2B5EF4-FFF2-40B4-BE49-F238E27FC236}">
                <a16:creationId xmlns:a16="http://schemas.microsoft.com/office/drawing/2014/main" id="{7E49E2E8-8AC3-44D7-AFF5-81C0FAD3113C}"/>
              </a:ext>
            </a:extLst>
          </p:cNvPr>
          <p:cNvSpPr>
            <a:spLocks noGrp="1"/>
          </p:cNvSpPr>
          <p:nvPr>
            <p:ph idx="1"/>
          </p:nvPr>
        </p:nvSpPr>
        <p:spPr/>
        <p:txBody>
          <a:bodyPr>
            <a:normAutofit/>
          </a:bodyPr>
          <a:lstStyle/>
          <a:p>
            <a:r>
              <a:rPr lang="en-US" sz="1800" dirty="0">
                <a:latin typeface="Century Gothic" panose="020B0502020202020204" pitchFamily="34" charset="0"/>
                <a:cs typeface="Times New Roman" panose="02020603050405020304" pitchFamily="18" charset="0"/>
                <a:hlinkClick r:id="rId2">
                  <a:extLst>
                    <a:ext uri="{A12FA001-AC4F-418D-AE19-62706E023703}">
                      <ahyp:hlinkClr xmlns="" xmlns:ahyp="http://schemas.microsoft.com/office/drawing/2018/hyperlinkcolor" val="tx"/>
                    </a:ext>
                  </a:extLst>
                </a:hlinkClick>
              </a:rPr>
              <a:t>Arduino</a:t>
            </a:r>
            <a:r>
              <a:rPr lang="en-US" sz="1800" dirty="0">
                <a:latin typeface="Century Gothic" panose="020B0502020202020204" pitchFamily="34" charset="0"/>
                <a:cs typeface="Times New Roman" panose="02020603050405020304" pitchFamily="18" charset="0"/>
              </a:rPr>
              <a:t> is an open-source platform used for building electronics projects. </a:t>
            </a:r>
          </a:p>
          <a:p>
            <a:r>
              <a:rPr lang="en-US" sz="1800" dirty="0">
                <a:latin typeface="Century Gothic" panose="020B0502020202020204" pitchFamily="34" charset="0"/>
                <a:cs typeface="Times New Roman" panose="02020603050405020304" pitchFamily="18" charset="0"/>
              </a:rPr>
              <a:t>Arduino consists of both a physical programmable circuit board (often referred to as a </a:t>
            </a:r>
            <a:r>
              <a:rPr lang="en-US" sz="1800" dirty="0">
                <a:latin typeface="Century Gothic" panose="020B0502020202020204" pitchFamily="34" charset="0"/>
                <a:cs typeface="Times New Roman" panose="02020603050405020304" pitchFamily="18" charset="0"/>
                <a:hlinkClick r:id="rId3">
                  <a:extLst>
                    <a:ext uri="{A12FA001-AC4F-418D-AE19-62706E023703}">
                      <ahyp:hlinkClr xmlns="" xmlns:ahyp="http://schemas.microsoft.com/office/drawing/2018/hyperlinkcolor" val="tx"/>
                    </a:ext>
                  </a:extLst>
                </a:hlinkClick>
              </a:rPr>
              <a:t>microcontroller</a:t>
            </a:r>
            <a:r>
              <a:rPr lang="en-US" sz="1800" dirty="0">
                <a:latin typeface="Century Gothic" panose="020B0502020202020204" pitchFamily="34" charset="0"/>
                <a:cs typeface="Times New Roman" panose="02020603050405020304" pitchFamily="18" charset="0"/>
              </a:rPr>
              <a:t>) and a piece of </a:t>
            </a:r>
            <a:r>
              <a:rPr lang="en-US" sz="1800" dirty="0">
                <a:latin typeface="Century Gothic" panose="020B0502020202020204" pitchFamily="34" charset="0"/>
                <a:cs typeface="Times New Roman" panose="02020603050405020304" pitchFamily="18" charset="0"/>
                <a:hlinkClick r:id="rId4">
                  <a:extLst>
                    <a:ext uri="{A12FA001-AC4F-418D-AE19-62706E023703}">
                      <ahyp:hlinkClr xmlns="" xmlns:ahyp="http://schemas.microsoft.com/office/drawing/2018/hyperlinkcolor" val="tx"/>
                    </a:ext>
                  </a:extLst>
                </a:hlinkClick>
              </a:rPr>
              <a:t>software</a:t>
            </a:r>
            <a:r>
              <a:rPr lang="en-US" sz="1800" dirty="0">
                <a:latin typeface="Century Gothic" panose="020B0502020202020204" pitchFamily="34" charset="0"/>
                <a:cs typeface="Times New Roman" panose="02020603050405020304" pitchFamily="18" charset="0"/>
              </a:rPr>
              <a:t>, or IDE (Integrated Development Environment) that runs on your computer, used to write and upload computer code to the physical board.</a:t>
            </a:r>
          </a:p>
          <a:p>
            <a:r>
              <a:rPr lang="en-US" sz="1800" dirty="0">
                <a:latin typeface="Century Gothic" panose="020B0502020202020204" pitchFamily="34" charset="0"/>
                <a:cs typeface="Times New Roman" panose="02020603050405020304" pitchFamily="18" charset="0"/>
              </a:rPr>
              <a:t>The Arduino platform has become quite popular with people just starting out with electronics, and for good reason. </a:t>
            </a:r>
          </a:p>
          <a:p>
            <a:endParaRPr lang="en-US" dirty="0"/>
          </a:p>
        </p:txBody>
      </p:sp>
    </p:spTree>
    <p:extLst>
      <p:ext uri="{BB962C8B-B14F-4D97-AF65-F5344CB8AC3E}">
        <p14:creationId xmlns:p14="http://schemas.microsoft.com/office/powerpoint/2010/main" val="224863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9A55-5F8E-4BF6-9EBC-9F7DE5D94DD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ED9AB28-6C6E-4F4E-9C00-412A92E73D7B}"/>
              </a:ext>
            </a:extLst>
          </p:cNvPr>
          <p:cNvSpPr>
            <a:spLocks noGrp="1"/>
          </p:cNvSpPr>
          <p:nvPr>
            <p:ph idx="1"/>
          </p:nvPr>
        </p:nvSpPr>
        <p:spPr/>
        <p:txBody>
          <a:bodyPr/>
          <a:lstStyle/>
          <a:p>
            <a:r>
              <a:rPr lang="en-US" sz="1800" dirty="0">
                <a:cs typeface="Times New Roman" panose="02020603050405020304" pitchFamily="18" charset="0"/>
              </a:rPr>
              <a:t>This flexibility combined with the fact that the Arduino software is free, the hardware boards are pretty cheap, and both the software and hardware are easy to learn has led to a large community of users who have contributed code and released instructions for a huge variety of Arduino-based projects. </a:t>
            </a:r>
          </a:p>
          <a:p>
            <a:r>
              <a:rPr lang="en-US" sz="1800" dirty="0">
                <a:cs typeface="Times New Roman" panose="02020603050405020304" pitchFamily="18" charset="0"/>
              </a:rPr>
              <a:t>There are many varieties of Arduino boards (</a:t>
            </a:r>
            <a:r>
              <a:rPr lang="en-US" sz="1800" dirty="0">
                <a:cs typeface="Times New Roman" panose="02020603050405020304" pitchFamily="18" charset="0"/>
                <a:hlinkClick r:id="rId2">
                  <a:extLst>
                    <a:ext uri="{A12FA001-AC4F-418D-AE19-62706E023703}">
                      <ahyp:hlinkClr xmlns="" xmlns:ahyp="http://schemas.microsoft.com/office/drawing/2018/hyperlinkcolor" val="tx"/>
                    </a:ext>
                  </a:extLst>
                </a:hlinkClick>
              </a:rPr>
              <a:t>explained on the next page</a:t>
            </a:r>
            <a:r>
              <a:rPr lang="en-US" sz="1800" dirty="0">
                <a:cs typeface="Times New Roman" panose="02020603050405020304" pitchFamily="18" charset="0"/>
              </a:rPr>
              <a:t>) that can be used for different purposes. Some boards look a bit different from the one below, but most Arduinos have the majority of these components in common</a:t>
            </a:r>
          </a:p>
          <a:p>
            <a:endParaRPr lang="en-US" dirty="0"/>
          </a:p>
        </p:txBody>
      </p:sp>
    </p:spTree>
    <p:extLst>
      <p:ext uri="{BB962C8B-B14F-4D97-AF65-F5344CB8AC3E}">
        <p14:creationId xmlns:p14="http://schemas.microsoft.com/office/powerpoint/2010/main" val="263567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8EF18-213D-4DF0-9FAD-2B15E0406EB9}"/>
              </a:ext>
            </a:extLst>
          </p:cNvPr>
          <p:cNvSpPr>
            <a:spLocks noGrp="1"/>
          </p:cNvSpPr>
          <p:nvPr>
            <p:ph type="title"/>
          </p:nvPr>
        </p:nvSpPr>
        <p:spPr/>
        <p:txBody>
          <a:bodyPr/>
          <a:lstStyle/>
          <a:p>
            <a:r>
              <a:rPr lang="en-US" dirty="0" err="1"/>
              <a:t>Cont</a:t>
            </a:r>
            <a:r>
              <a:rPr lang="en-US" dirty="0"/>
              <a:t> .,</a:t>
            </a:r>
          </a:p>
        </p:txBody>
      </p:sp>
      <p:sp>
        <p:nvSpPr>
          <p:cNvPr id="3" name="Content Placeholder 2">
            <a:extLst>
              <a:ext uri="{FF2B5EF4-FFF2-40B4-BE49-F238E27FC236}">
                <a16:creationId xmlns:a16="http://schemas.microsoft.com/office/drawing/2014/main" id="{5543B87D-A2FE-4403-B785-7860F2BE51F6}"/>
              </a:ext>
            </a:extLst>
          </p:cNvPr>
          <p:cNvSpPr>
            <a:spLocks noGrp="1"/>
          </p:cNvSpPr>
          <p:nvPr>
            <p:ph idx="1"/>
          </p:nvPr>
        </p:nvSpPr>
        <p:spPr/>
        <p:txBody>
          <a:bodyPr>
            <a:normAutofit fontScale="32500" lnSpcReduction="20000"/>
          </a:bodyPr>
          <a:lstStyle/>
          <a:p>
            <a:r>
              <a:rPr lang="en-US" sz="7200" dirty="0">
                <a:cs typeface="Times New Roman" panose="02020603050405020304" pitchFamily="18" charset="0"/>
              </a:rPr>
              <a:t>Programs written using Arduino Software (IDE) are called </a:t>
            </a:r>
            <a:r>
              <a:rPr lang="en-US" sz="7200" b="1" dirty="0">
                <a:cs typeface="Times New Roman" panose="02020603050405020304" pitchFamily="18" charset="0"/>
              </a:rPr>
              <a:t>sketches</a:t>
            </a:r>
            <a:r>
              <a:rPr lang="en-US" sz="7200" dirty="0">
                <a:cs typeface="Times New Roman" panose="02020603050405020304" pitchFamily="18" charset="0"/>
              </a:rPr>
              <a:t>. These sketches are written in the text editor and are saved with the file extension. The editor has features for cutting/pasting and for searching/replacing text. </a:t>
            </a:r>
          </a:p>
          <a:p>
            <a:r>
              <a:rPr lang="en-US" sz="7200" dirty="0">
                <a:cs typeface="Times New Roman" panose="02020603050405020304" pitchFamily="18" charset="0"/>
              </a:rPr>
              <a:t>The message area gives feedback while saving and exporting and also displays errors. </a:t>
            </a:r>
          </a:p>
          <a:p>
            <a:r>
              <a:rPr lang="en-US" sz="7200" dirty="0">
                <a:cs typeface="Times New Roman" panose="02020603050405020304" pitchFamily="18" charset="0"/>
              </a:rPr>
              <a:t>The console displays text output by the Arduino Software (IDE), including complete error messages and other information. </a:t>
            </a:r>
          </a:p>
          <a:p>
            <a:r>
              <a:rPr lang="en-US" sz="7200" dirty="0">
                <a:cs typeface="Times New Roman" panose="02020603050405020304" pitchFamily="18" charset="0"/>
              </a:rPr>
              <a:t>The bottom righthand corner of the window displays the configured board and serial port. </a:t>
            </a:r>
          </a:p>
          <a:p>
            <a:r>
              <a:rPr lang="en-US" sz="7200" dirty="0">
                <a:cs typeface="Times New Roman" panose="02020603050405020304" pitchFamily="18" charset="0"/>
              </a:rPr>
              <a:t>The toolbar buttons allow you to verify and upload programs, create, open, and save sketches, and open the serial monitor</a:t>
            </a:r>
          </a:p>
          <a:p>
            <a:endParaRPr lang="en-US" dirty="0"/>
          </a:p>
        </p:txBody>
      </p:sp>
    </p:spTree>
    <p:extLst>
      <p:ext uri="{BB962C8B-B14F-4D97-AF65-F5344CB8AC3E}">
        <p14:creationId xmlns:p14="http://schemas.microsoft.com/office/powerpoint/2010/main" val="102418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0E5DD-3D9D-45F4-BC8F-D9298B95F4F7}"/>
              </a:ext>
            </a:extLst>
          </p:cNvPr>
          <p:cNvSpPr>
            <a:spLocks noGrp="1"/>
          </p:cNvSpPr>
          <p:nvPr>
            <p:ph type="title"/>
          </p:nvPr>
        </p:nvSpPr>
        <p:spPr/>
        <p:txBody>
          <a:bodyPr/>
          <a:lstStyle/>
          <a:p>
            <a:r>
              <a:rPr lang="en-US" dirty="0"/>
              <a:t>ARDUINO IDE SETUP</a:t>
            </a:r>
          </a:p>
        </p:txBody>
      </p:sp>
      <p:pic>
        <p:nvPicPr>
          <p:cNvPr id="4" name="Content Placeholder 3">
            <a:extLst>
              <a:ext uri="{FF2B5EF4-FFF2-40B4-BE49-F238E27FC236}">
                <a16:creationId xmlns:a16="http://schemas.microsoft.com/office/drawing/2014/main" id="{6124EFAC-5D4B-4B1F-80CE-29AE382DF4F3}"/>
              </a:ext>
            </a:extLst>
          </p:cNvPr>
          <p:cNvPicPr>
            <a:picLocks noGrp="1"/>
          </p:cNvPicPr>
          <p:nvPr>
            <p:ph idx="1"/>
          </p:nvPr>
        </p:nvPicPr>
        <p:blipFill>
          <a:blip r:embed="rId2"/>
          <a:stretch>
            <a:fillRect/>
          </a:stretch>
        </p:blipFill>
        <p:spPr>
          <a:xfrm>
            <a:off x="2667492" y="2603500"/>
            <a:ext cx="3017250" cy="3416300"/>
          </a:xfrm>
          <a:prstGeom prst="rect">
            <a:avLst/>
          </a:prstGeom>
        </p:spPr>
      </p:pic>
    </p:spTree>
    <p:extLst>
      <p:ext uri="{BB962C8B-B14F-4D97-AF65-F5344CB8AC3E}">
        <p14:creationId xmlns:p14="http://schemas.microsoft.com/office/powerpoint/2010/main" val="3842532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8117-6984-4BC4-8377-772F986519CF}"/>
              </a:ext>
            </a:extLst>
          </p:cNvPr>
          <p:cNvSpPr>
            <a:spLocks noGrp="1"/>
          </p:cNvSpPr>
          <p:nvPr>
            <p:ph type="title"/>
          </p:nvPr>
        </p:nvSpPr>
        <p:spPr/>
        <p:txBody>
          <a:bodyPr/>
          <a:lstStyle/>
          <a:p>
            <a:r>
              <a:rPr lang="en-US" dirty="0">
                <a:cs typeface="Times New Roman" panose="02020603050405020304" pitchFamily="18" charset="0"/>
              </a:rPr>
              <a:t>EMBEDDED C </a:t>
            </a:r>
            <a:endParaRPr lang="en-US" dirty="0"/>
          </a:p>
        </p:txBody>
      </p:sp>
      <p:sp>
        <p:nvSpPr>
          <p:cNvPr id="3" name="Content Placeholder 2">
            <a:extLst>
              <a:ext uri="{FF2B5EF4-FFF2-40B4-BE49-F238E27FC236}">
                <a16:creationId xmlns:a16="http://schemas.microsoft.com/office/drawing/2014/main" id="{F6215D5E-53C4-4A70-9FC2-7CB366BA2BB0}"/>
              </a:ext>
            </a:extLst>
          </p:cNvPr>
          <p:cNvSpPr>
            <a:spLocks noGrp="1"/>
          </p:cNvSpPr>
          <p:nvPr>
            <p:ph idx="1"/>
          </p:nvPr>
        </p:nvSpPr>
        <p:spPr/>
        <p:txBody>
          <a:bodyPr/>
          <a:lstStyle/>
          <a:p>
            <a:r>
              <a:rPr lang="en-US" sz="1800" dirty="0">
                <a:cs typeface="Times New Roman" panose="02020603050405020304" pitchFamily="18" charset="0"/>
              </a:rPr>
              <a:t>Embedded C is most popular programming language in software field for developing electronic gadgets. Each processor used in electronic system is associated with embedded software.</a:t>
            </a:r>
          </a:p>
          <a:p>
            <a:r>
              <a:rPr lang="en-US" sz="1800" dirty="0">
                <a:cs typeface="Times New Roman" panose="02020603050405020304" pitchFamily="18" charset="0"/>
              </a:rPr>
              <a:t>Embedded C programming plays a key role in performing specific function by the processor. In day-to-day life we used many electronic devices such as mobile phone, washing machine, digital camera, etc. </a:t>
            </a:r>
          </a:p>
          <a:p>
            <a:r>
              <a:rPr lang="en-US" sz="1800" dirty="0">
                <a:cs typeface="Times New Roman" panose="02020603050405020304" pitchFamily="18" charset="0"/>
              </a:rPr>
              <a:t>These all device working is based on microcontroller that are programmed by embedded C.</a:t>
            </a:r>
          </a:p>
          <a:p>
            <a:endParaRPr lang="en-US" dirty="0"/>
          </a:p>
        </p:txBody>
      </p:sp>
    </p:spTree>
    <p:extLst>
      <p:ext uri="{BB962C8B-B14F-4D97-AF65-F5344CB8AC3E}">
        <p14:creationId xmlns:p14="http://schemas.microsoft.com/office/powerpoint/2010/main" val="1098016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17BEB-C6E8-4CDD-8154-D93213223B0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E6F47FE-4065-463F-9A87-DF6D4F1167D1}"/>
              </a:ext>
            </a:extLst>
          </p:cNvPr>
          <p:cNvSpPr>
            <a:spLocks noGrp="1"/>
          </p:cNvSpPr>
          <p:nvPr>
            <p:ph idx="1"/>
          </p:nvPr>
        </p:nvSpPr>
        <p:spPr/>
        <p:txBody>
          <a:bodyPr>
            <a:normAutofit/>
          </a:bodyPr>
          <a:lstStyle/>
          <a:p>
            <a:r>
              <a:rPr lang="en-US" sz="1900" dirty="0">
                <a:cs typeface="Times New Roman" panose="02020603050405020304" pitchFamily="18" charset="0"/>
              </a:rPr>
              <a:t>The Embedded C code written in above block diagram is used for blinking the LED connected with Port0 of microcontroller.</a:t>
            </a:r>
          </a:p>
          <a:p>
            <a:r>
              <a:rPr lang="en-US" sz="1900" dirty="0">
                <a:cs typeface="Times New Roman" panose="02020603050405020304" pitchFamily="18" charset="0"/>
              </a:rPr>
              <a:t>In embedded system programming C code is preferred over other language. Due to the following reasons:</a:t>
            </a:r>
          </a:p>
          <a:p>
            <a:pPr lvl="0"/>
            <a:r>
              <a:rPr lang="en-US" sz="1900" dirty="0">
                <a:cs typeface="Times New Roman" panose="02020603050405020304" pitchFamily="18" charset="0"/>
              </a:rPr>
              <a:t>Easy to understand</a:t>
            </a:r>
          </a:p>
          <a:p>
            <a:pPr lvl="0"/>
            <a:r>
              <a:rPr lang="en-US" sz="1900" dirty="0">
                <a:cs typeface="Times New Roman" panose="02020603050405020304" pitchFamily="18" charset="0"/>
              </a:rPr>
              <a:t>High Reliability</a:t>
            </a:r>
          </a:p>
          <a:p>
            <a:pPr lvl="0"/>
            <a:r>
              <a:rPr lang="en-US" sz="1900" dirty="0">
                <a:cs typeface="Times New Roman" panose="02020603050405020304" pitchFamily="18" charset="0"/>
              </a:rPr>
              <a:t>Portability</a:t>
            </a:r>
          </a:p>
          <a:p>
            <a:pPr lvl="0"/>
            <a:r>
              <a:rPr lang="en-US" sz="1900" dirty="0">
                <a:cs typeface="Times New Roman" panose="02020603050405020304" pitchFamily="18" charset="0"/>
              </a:rPr>
              <a:t>Scalability</a:t>
            </a:r>
          </a:p>
          <a:p>
            <a:r>
              <a:rPr lang="en-US" sz="1900" dirty="0">
                <a:cs typeface="Times New Roman" panose="02020603050405020304" pitchFamily="18" charset="0"/>
              </a:rPr>
              <a:t>Function is a collection of statements that is used for performing a specific task and a collection of one or more functions is called a programming language. </a:t>
            </a:r>
          </a:p>
          <a:p>
            <a:endParaRPr lang="en-US" dirty="0"/>
          </a:p>
        </p:txBody>
      </p:sp>
    </p:spTree>
    <p:extLst>
      <p:ext uri="{BB962C8B-B14F-4D97-AF65-F5344CB8AC3E}">
        <p14:creationId xmlns:p14="http://schemas.microsoft.com/office/powerpoint/2010/main" val="1903116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94E34-00D0-4525-9C37-A102EDAFE15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816BEF2-B7F0-46DB-BB80-282CB3111843}"/>
              </a:ext>
            </a:extLst>
          </p:cNvPr>
          <p:cNvSpPr>
            <a:spLocks noGrp="1"/>
          </p:cNvSpPr>
          <p:nvPr>
            <p:ph idx="1"/>
          </p:nvPr>
        </p:nvSpPr>
        <p:spPr/>
        <p:txBody>
          <a:bodyPr>
            <a:normAutofit/>
          </a:bodyPr>
          <a:lstStyle/>
          <a:p>
            <a:pPr fontAlgn="base"/>
            <a:r>
              <a:rPr lang="en-US" sz="1800" dirty="0">
                <a:cs typeface="Times New Roman" panose="02020603050405020304" pitchFamily="18" charset="0"/>
              </a:rPr>
              <a:t>Most consumers are familiar with </a:t>
            </a:r>
            <a:r>
              <a:rPr lang="en-US" sz="1800" dirty="0">
                <a:cs typeface="Times New Roman" panose="02020603050405020304" pitchFamily="18" charset="0"/>
                <a:hlinkClick r:id="rId2" tooltip="Application software">
                  <a:extLst>
                    <a:ext uri="{A12FA001-AC4F-418D-AE19-62706E023703}">
                      <ahyp:hlinkClr xmlns="" xmlns:ahyp="http://schemas.microsoft.com/office/drawing/2018/hyperlinkcolor" val="tx"/>
                    </a:ext>
                  </a:extLst>
                </a:hlinkClick>
              </a:rPr>
              <a:t>application software</a:t>
            </a:r>
            <a:r>
              <a:rPr lang="en-US" sz="1800" dirty="0">
                <a:cs typeface="Times New Roman" panose="02020603050405020304" pitchFamily="18" charset="0"/>
              </a:rPr>
              <a:t> that provide functionality on a computer. </a:t>
            </a:r>
          </a:p>
          <a:p>
            <a:pPr fontAlgn="base"/>
            <a:r>
              <a:rPr lang="en-US" sz="1800" dirty="0">
                <a:cs typeface="Times New Roman" panose="02020603050405020304" pitchFamily="18" charset="0"/>
              </a:rPr>
              <a:t>Embedded software however is often less visible, but no less complicated. </a:t>
            </a:r>
          </a:p>
          <a:p>
            <a:pPr fontAlgn="base"/>
            <a:r>
              <a:rPr lang="en-US" sz="1800" dirty="0">
                <a:cs typeface="Times New Roman" panose="02020603050405020304" pitchFamily="18" charset="0"/>
              </a:rPr>
              <a:t>Unlike application software, embedded software has fixed hardware requirements and capabilities, and addition of third-party hardware or software is strictly controlled.</a:t>
            </a:r>
          </a:p>
          <a:p>
            <a:pPr fontAlgn="base"/>
            <a:r>
              <a:rPr lang="en-US" sz="1800" dirty="0">
                <a:cs typeface="Times New Roman" panose="02020603050405020304" pitchFamily="18" charset="0"/>
              </a:rPr>
              <a:t>Embedded software needs to include all needed </a:t>
            </a:r>
            <a:r>
              <a:rPr lang="en-US" sz="1800" u="sng" dirty="0">
                <a:cs typeface="Times New Roman" panose="02020603050405020304" pitchFamily="18" charset="0"/>
                <a:hlinkClick r:id="rId3" tooltip="Device driver">
                  <a:extLst>
                    <a:ext uri="{A12FA001-AC4F-418D-AE19-62706E023703}">
                      <ahyp:hlinkClr xmlns="" xmlns:ahyp="http://schemas.microsoft.com/office/drawing/2018/hyperlinkcolor" val="tx"/>
                    </a:ext>
                  </a:extLst>
                </a:hlinkClick>
              </a:rPr>
              <a:t>device drivers</a:t>
            </a:r>
            <a:r>
              <a:rPr lang="en-US" sz="1800" dirty="0">
                <a:cs typeface="Times New Roman" panose="02020603050405020304" pitchFamily="18" charset="0"/>
              </a:rPr>
              <a:t> at manufacturing time, and the device drivers are written for the specific hardware.</a:t>
            </a:r>
          </a:p>
          <a:p>
            <a:pPr fontAlgn="base"/>
            <a:r>
              <a:rPr lang="en-US" sz="1800" dirty="0">
                <a:cs typeface="Times New Roman" panose="02020603050405020304" pitchFamily="18" charset="0"/>
              </a:rPr>
              <a:t> The software is highly dependent on the CPU and specific chips chosen. </a:t>
            </a:r>
          </a:p>
          <a:p>
            <a:pPr fontAlgn="base"/>
            <a:r>
              <a:rPr lang="en-US" sz="1800" dirty="0">
                <a:cs typeface="Times New Roman" panose="02020603050405020304" pitchFamily="18" charset="0"/>
              </a:rPr>
              <a:t>Most embedded software engineers have at least a passing knowledge of reading </a:t>
            </a:r>
            <a:r>
              <a:rPr lang="en-US" sz="1800" u="sng" dirty="0">
                <a:cs typeface="Times New Roman" panose="02020603050405020304" pitchFamily="18" charset="0"/>
                <a:hlinkClick r:id="rId4" tooltip="Schematic">
                  <a:extLst>
                    <a:ext uri="{A12FA001-AC4F-418D-AE19-62706E023703}">
                      <ahyp:hlinkClr xmlns="" xmlns:ahyp="http://schemas.microsoft.com/office/drawing/2018/hyperlinkcolor" val="tx"/>
                    </a:ext>
                  </a:extLst>
                </a:hlinkClick>
              </a:rPr>
              <a:t>schematics</a:t>
            </a:r>
            <a:r>
              <a:rPr lang="en-US" sz="1800" dirty="0">
                <a:cs typeface="Times New Roman" panose="02020603050405020304" pitchFamily="18" charset="0"/>
              </a:rPr>
              <a:t>, and reading data sheets for components to determine usage of registers and communication system. </a:t>
            </a:r>
          </a:p>
          <a:p>
            <a:pPr fontAlgn="base"/>
            <a:r>
              <a:rPr lang="en-US" sz="1800" dirty="0">
                <a:cs typeface="Times New Roman" panose="02020603050405020304" pitchFamily="18" charset="0"/>
              </a:rPr>
              <a:t>Conversion between </a:t>
            </a:r>
            <a:r>
              <a:rPr lang="en-US" sz="1800" u="sng" dirty="0">
                <a:cs typeface="Times New Roman" panose="02020603050405020304" pitchFamily="18" charset="0"/>
                <a:hlinkClick r:id="rId5" tooltip="Decimal">
                  <a:extLst>
                    <a:ext uri="{A12FA001-AC4F-418D-AE19-62706E023703}">
                      <ahyp:hlinkClr xmlns="" xmlns:ahyp="http://schemas.microsoft.com/office/drawing/2018/hyperlinkcolor" val="tx"/>
                    </a:ext>
                  </a:extLst>
                </a:hlinkClick>
              </a:rPr>
              <a:t>decimal</a:t>
            </a:r>
            <a:r>
              <a:rPr lang="en-US" sz="1800" dirty="0">
                <a:cs typeface="Times New Roman" panose="02020603050405020304" pitchFamily="18" charset="0"/>
              </a:rPr>
              <a:t>, </a:t>
            </a:r>
            <a:r>
              <a:rPr lang="en-US" sz="1800" u="sng" dirty="0">
                <a:cs typeface="Times New Roman" panose="02020603050405020304" pitchFamily="18" charset="0"/>
                <a:hlinkClick r:id="rId6" tooltip="Hexadecimal">
                  <a:extLst>
                    <a:ext uri="{A12FA001-AC4F-418D-AE19-62706E023703}">
                      <ahyp:hlinkClr xmlns="" xmlns:ahyp="http://schemas.microsoft.com/office/drawing/2018/hyperlinkcolor" val="tx"/>
                    </a:ext>
                  </a:extLst>
                </a:hlinkClick>
              </a:rPr>
              <a:t>hexadecimal</a:t>
            </a:r>
            <a:r>
              <a:rPr lang="en-US" sz="1800" dirty="0">
                <a:cs typeface="Times New Roman" panose="02020603050405020304" pitchFamily="18" charset="0"/>
              </a:rPr>
              <a:t> and </a:t>
            </a:r>
            <a:r>
              <a:rPr lang="en-US" sz="1800" u="sng" dirty="0">
                <a:cs typeface="Times New Roman" panose="02020603050405020304" pitchFamily="18" charset="0"/>
                <a:hlinkClick r:id="rId7" tooltip="Binary numeral system">
                  <a:extLst>
                    <a:ext uri="{A12FA001-AC4F-418D-AE19-62706E023703}">
                      <ahyp:hlinkClr xmlns="" xmlns:ahyp="http://schemas.microsoft.com/office/drawing/2018/hyperlinkcolor" val="tx"/>
                    </a:ext>
                  </a:extLst>
                </a:hlinkClick>
              </a:rPr>
              <a:t>binary</a:t>
            </a:r>
            <a:r>
              <a:rPr lang="en-US" sz="1800" dirty="0">
                <a:cs typeface="Times New Roman" panose="02020603050405020304" pitchFamily="18" charset="0"/>
              </a:rPr>
              <a:t> is useful as well as using </a:t>
            </a:r>
            <a:r>
              <a:rPr lang="en-US" sz="1800" u="sng" dirty="0">
                <a:cs typeface="Times New Roman" panose="02020603050405020304" pitchFamily="18" charset="0"/>
              </a:rPr>
              <a:t>bit manipulation</a:t>
            </a:r>
            <a:r>
              <a:rPr lang="en-US" sz="1800" dirty="0">
                <a:cs typeface="Times New Roman" panose="02020603050405020304" pitchFamily="18" charset="0"/>
              </a:rPr>
              <a:t>.</a:t>
            </a:r>
          </a:p>
          <a:p>
            <a:endParaRPr lang="en-US" dirty="0"/>
          </a:p>
        </p:txBody>
      </p:sp>
    </p:spTree>
    <p:extLst>
      <p:ext uri="{BB962C8B-B14F-4D97-AF65-F5344CB8AC3E}">
        <p14:creationId xmlns:p14="http://schemas.microsoft.com/office/powerpoint/2010/main" val="4113771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2070</Words>
  <Application>Microsoft Office PowerPoint</Application>
  <PresentationFormat>On-screen Show (4:3)</PresentationFormat>
  <Paragraphs>167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vt:lpstr>
      <vt:lpstr>Office Theme</vt:lpstr>
      <vt:lpstr>AN ADVANCED AMBULANCE RESCUE SYSTEM USING PRIORITIZED TRAFFIC SWITCHING</vt:lpstr>
      <vt:lpstr>ABSTRACT: </vt:lpstr>
      <vt:lpstr>LITERATURE SURVEY 1</vt:lpstr>
      <vt:lpstr>LITERATURE SURVEY 2 </vt:lpstr>
      <vt:lpstr>LITERATURE SURVEY 3</vt:lpstr>
      <vt:lpstr>LITERATURE SURVEY 3</vt:lpstr>
      <vt:lpstr>LITERATURE SURVEY 3</vt:lpstr>
      <vt:lpstr>PowerPoint Presentation</vt:lpstr>
      <vt:lpstr>PowerPoint Presentation</vt:lpstr>
      <vt:lpstr>BLOCK DIAGRAM</vt:lpstr>
      <vt:lpstr>BLOCK DIAGRAM</vt:lpstr>
      <vt:lpstr>PowerPoint Presentation</vt:lpstr>
      <vt:lpstr>ARDUINO UNO </vt:lpstr>
      <vt:lpstr>SPECIFICATION </vt:lpstr>
      <vt:lpstr>GSM SIM900</vt:lpstr>
      <vt:lpstr>FEATURES </vt:lpstr>
      <vt:lpstr>SOFTWARE REQUIEMENTS</vt:lpstr>
      <vt:lpstr>ARDUINO IDE </vt:lpstr>
      <vt:lpstr>CONT.,</vt:lpstr>
      <vt:lpstr>Cont .,</vt:lpstr>
      <vt:lpstr>ARDUINO IDE SETUP</vt:lpstr>
      <vt:lpstr>EMBEDDED C </vt:lpstr>
      <vt:lpstr>CONT.,</vt:lpstr>
      <vt:lpstr>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ADVANCED AMBULANCE RESCUE SYSTEM USING PRIORITIZED TRAFFIC SWITCHING</dc:title>
  <dc:creator>ReECE_02</dc:creator>
  <cp:lastModifiedBy>LNU, S.Hariharan (Contractor)</cp:lastModifiedBy>
  <cp:revision>9</cp:revision>
  <dcterms:created xsi:type="dcterms:W3CDTF">2019-09-30T05:03:21Z</dcterms:created>
  <dcterms:modified xsi:type="dcterms:W3CDTF">2020-03-11T06:06:16Z</dcterms:modified>
</cp:coreProperties>
</file>